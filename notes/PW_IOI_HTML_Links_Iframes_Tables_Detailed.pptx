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PW | IOI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0" y="2194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2C83"/>
                </a:solidFill>
              </a:rPr>
              <a:t>@adfarsirofficial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6565392"/>
            <a:ext cx="11356848" cy="0"/>
          </a:xfrm>
          <a:prstGeom prst="line">
            <a:avLst/>
          </a:prstGeom>
          <a:noFill/>
          <a:ln w="12700">
            <a:solidFill>
              <a:srgbClr val="D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6601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184"/>
                </a:solidFill>
              </a:rPr>
              <a:t>HTML • Links • Iframes • Tables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151F"/>
                </a:solidFill>
              </a:rPr>
              <a:t>HTML Links, Iframes &amp; Tables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67512" y="21488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25D69"/>
                </a:solidFill>
              </a:rPr>
              <a:t>A detailed classroom deck with definitions, syntax, attributes, examples and browser output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7512" y="30632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312267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PW IOI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38528" y="306324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7B4AA0"/>
          </a:solidFill>
          <a:ln w="12700">
            <a:solidFill>
              <a:srgbClr val="7B4A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1226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@adfarsirofficial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95160" y="278892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16151B"/>
          </a:solidFill>
          <a:ln w="12700">
            <a:solidFill>
              <a:srgbClr val="161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32461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href="page.html"&gt;Learn HTML&lt;/a&gt;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src="video.html"&gt;&lt;/iframe&gt;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 ... &lt;/table&gt;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What we will learn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From basic hyperlinks to structured tables and iframe-based navigation.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" cy="160020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105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Links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176272"/>
            <a:ext cx="4873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Anchor tag • href • URL vs URI • Intra-document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45920"/>
            <a:ext cx="64008" cy="160020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8105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Links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2176272"/>
            <a:ext cx="4873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Inter-document • href values • download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703320"/>
            <a:ext cx="64008" cy="160020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67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Links 3–4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233672"/>
            <a:ext cx="4873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iframe • attributes • named targets • YouTube-style layout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7033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703320"/>
            <a:ext cx="64008" cy="160020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867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Tables 1–2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4233672"/>
            <a:ext cx="4873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table anatomy • sections • colgroup • legacy formatting attributes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Anchor Tag &lt;a&gt;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The anchor element creates a hyperlink to another resource, document, location, email address, phone number, or downloadable file.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href="https://example.com"&gt;Visit Example&lt;/a&gt;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51F"/>
                </a:solidFill>
              </a:rPr>
              <a:t>My Website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01968" y="2862072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Visit Example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5943600"/>
            <a:ext cx="11045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943600"/>
            <a:ext cx="64008" cy="41148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6473952"/>
            <a:ext cx="10661904" cy="-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The visible text is clickable. The destination is provided by href.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href attribute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href means “hypertext reference”. It tells the browser where the link should go.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39112"/>
            <a:ext cx="48463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href="about.html"&gt;About Us&lt;/a&gt;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16752" y="1508760"/>
            <a:ext cx="55961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16752" y="1508760"/>
            <a:ext cx="5596128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4224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5392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93992" y="1600200"/>
            <a:ext cx="463600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1655064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81344" y="2039112"/>
            <a:ext cx="5266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1072" y="237744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About 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Key points / attributes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 / 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href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3192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Destination of the hyperlink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link text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3192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What the user sees and clicks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98080" y="3794760"/>
            <a:ext cx="4114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3794760"/>
            <a:ext cx="64008" cy="941832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Remember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99248" y="4325112"/>
            <a:ext cx="373075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href may contain a URL, relative path, fragment, email, telephone link, or other supported URI scheme.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URL vs URI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A URI identifies a resource. A URL is a URI that also tells you where/how to access 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64008" cy="187452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73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URI — Uniform Resource Identifier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039112"/>
            <a:ext cx="491947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A general identifier for a resource. Examples can include URLs and non-location identifiers.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Example: urn:isbn:9780131103627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508760"/>
            <a:ext cx="64008" cy="187452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673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URL — Uniform Resource Locator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3368" y="2039112"/>
            <a:ext cx="501091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A type of URI that includes a location/access mechanism.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Example: https://example.com/docs/page.html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3794760"/>
            <a:ext cx="5029200" cy="2057400"/>
          </a:xfrm>
          <a:prstGeom prst="ellipse">
            <a:avLst/>
          </a:prstGeom>
          <a:solidFill>
            <a:srgbClr val="EEE7F5">
              <a:alpha val="90000"/>
            </a:srgbClr>
          </a:solidFill>
          <a:ln w="25400">
            <a:solidFill>
              <a:srgbClr val="5B2C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4041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</a:rPr>
              <a:t>URI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00600" y="4160520"/>
            <a:ext cx="2971800" cy="1280160"/>
          </a:xfrm>
          <a:prstGeom prst="ellipse">
            <a:avLst/>
          </a:prstGeom>
          <a:solidFill>
            <a:srgbClr val="DCE8FA"/>
          </a:solidFill>
          <a:ln w="25400">
            <a:solidFill>
              <a:srgbClr val="2C5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4526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B8"/>
                </a:solidFill>
              </a:rPr>
              <a:t>URL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38160" y="4343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Every URL is a URI, but not every URI is a URL.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Intra-document Link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A link that jumps to another location inside the same HTML document using an element id and a #fragment.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href="#contact"&gt;Go to Contact&lt;/a&gt;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id="contact"&gt;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&lt;h2&gt;Contact&lt;/h2&gt;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Go to Contact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1968" y="2862072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Clicking scrolls to the element whose id="contact".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943600"/>
            <a:ext cx="11045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943600"/>
            <a:ext cx="64008" cy="41148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6473952"/>
            <a:ext cx="10661904" cy="-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The fragment #contact must match the target element’s id exactly.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Inter-document Link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A hyperlink that navigates from the current document to a different document or page.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href="about.html"&gt;About&lt;/a&gt;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href="pages/contact.html"&gt;Contact&lt;/a&gt;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href="../index.html"&gt;Home&lt;/a&gt;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About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1968" y="2862072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Contact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01968" y="330098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Home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943600"/>
            <a:ext cx="11045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5943600"/>
            <a:ext cx="64008" cy="41148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6473952"/>
            <a:ext cx="10661904" cy="-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Relative paths depend on the current file location; absolute URLs include the complete address.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Different href Values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href is flexible: the value changes depending on what action or destination you need.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672840" cy="56692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09344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Value 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67200" y="1508760"/>
            <a:ext cx="3672840" cy="56692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0352" y="1609344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Example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940040" y="1508760"/>
            <a:ext cx="3672840" cy="56692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13192" y="1609344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075688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76272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Absolute URL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67200" y="2075688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0352" y="2176272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https://pwskills.com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40040" y="2075688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3192" y="2176272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Opens an external web resource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2642616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743200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Relative path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67200" y="2642616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0352" y="2743200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about.html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40040" y="2642616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3192" y="2743200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Opens a file relative to current page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3209544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310128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Fragment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67200" y="3209544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0352" y="3310128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#pricing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40040" y="3209544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3192" y="3310128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Jumps inside the same document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3776472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877056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Email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67200" y="3776472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352" y="3877056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mailto:hello@example.com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40040" y="3776472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3192" y="3877056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Opens the default mail 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4343400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443984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Phone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67200" y="4343400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352" y="4443984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tel:+911234567890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0040" y="4343400"/>
            <a:ext cx="3672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3192" y="4443984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Starts a phone action on supported devices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" y="4910328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5010912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JavaScript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67200" y="4910328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352" y="5010912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javascript:void(0)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40040" y="4910328"/>
            <a:ext cx="3672840" cy="56692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13192" y="5010912"/>
            <a:ext cx="3526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Legacy pattern; generally avoid for navigation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" y="566928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5669280"/>
            <a:ext cx="64008" cy="502920"/>
          </a:xfrm>
          <a:prstGeom prst="rect">
            <a:avLst/>
          </a:prstGeom>
          <a:solidFill>
            <a:srgbClr val="1D7A46"/>
          </a:solidFill>
          <a:ln w="12700">
            <a:solidFill>
              <a:srgbClr val="1D7A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" y="5833872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Best practice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95528" y="6199632"/>
            <a:ext cx="10634472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Use real URLs/paths for navigation. Use buttons for actions instead of javascript: links.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target attribute on &lt;a&gt;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Controls where the linked document opens.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39112"/>
            <a:ext cx="48463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href="https://example.com" target="_blank"&gt;Open&lt;/a&gt;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16752" y="1508760"/>
            <a:ext cx="55961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16752" y="1508760"/>
            <a:ext cx="5596128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4224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5392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93992" y="1600200"/>
            <a:ext cx="463600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1655064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81344" y="2039112"/>
            <a:ext cx="5266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1072" y="237744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Open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Key points / attributes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 / 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 _self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3192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Current browsing context (default)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_blank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3192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New tab/window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5422392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55229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_parent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31920" y="5422392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55229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Parent browsing context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5843016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59436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_top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31920" y="5843016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05072" y="59436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Top-level browsing context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" y="6263640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" y="63642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frameName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931920" y="6263640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5072" y="63642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Named iframe/browsing context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98080" y="3794760"/>
            <a:ext cx="4114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3794760"/>
            <a:ext cx="64008" cy="941832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Remember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699248" y="4325112"/>
            <a:ext cx="373075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For external links opened with _blank, modern browsers provide protections; rel="noopener" is still common for clarity/compatibility.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download attribute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Suggests that the linked resource should be downloaded instead of navigated 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39112"/>
            <a:ext cx="48463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href="notes.pdf" download&gt;Download Notes&lt;/a&gt;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href="notes.pdf" download="html-notes.pdf"&gt;Download&lt;/a&gt;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16752" y="1508760"/>
            <a:ext cx="55961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16752" y="1508760"/>
            <a:ext cx="5596128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4224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5392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93992" y="1600200"/>
            <a:ext cx="463600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1655064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81344" y="2039112"/>
            <a:ext cx="5266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1072" y="237744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Download Notes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81635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Download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Key points / attributes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 / use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download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3192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Boolean form: browser derives filename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download="name"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3192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Suggests a filename for the download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98080" y="3794760"/>
            <a:ext cx="4114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3794760"/>
            <a:ext cx="64008" cy="941832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Remember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99248" y="4325112"/>
            <a:ext cx="373075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Browser/security rules and cross-origin restrictions can affect whether download is honored.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&lt;iframe&gt;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Embeds another HTML page or external resource inside the current page, creating a nested browsing context.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src="profile.html"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width="500"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height="250"&gt;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&lt;/iframe&gt;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51F"/>
                </a:solidFill>
              </a:rPr>
              <a:t>Embedded page area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01968" y="2862072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The content of profile.html appears inside this frame.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943600"/>
            <a:ext cx="11045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943600"/>
            <a:ext cx="64008" cy="41148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6473952"/>
            <a:ext cx="10661904" cy="-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An iframe is useful for embedded maps, videos, forms, documents, or controlled page previews.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iframe: src, width and height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These attributes define what loads and the initial dimensions of the embedded frame.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39112"/>
            <a:ext cx="48463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src="news.html"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width="600"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height="300"&gt;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&lt;/iframe&gt;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16752" y="1508760"/>
            <a:ext cx="55961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16752" y="1508760"/>
            <a:ext cx="5596128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4224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5392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93992" y="1600200"/>
            <a:ext cx="463600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1655064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81344" y="2039112"/>
            <a:ext cx="5266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1072" y="237744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┌─────────────────────────────┐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2816352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│      news.html content      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91072" y="3255264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└─────────────────────────────┘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Key points / attributes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 / use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src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3192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URL of the document/resource to embed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width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3192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Rendered width in CSS pixels by default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5422392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55229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height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31920" y="5422392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55229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Rendered height in CSS pixels by default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98080" y="3794760"/>
            <a:ext cx="4114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3794760"/>
            <a:ext cx="64008" cy="941832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99248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Remember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99248" y="4325112"/>
            <a:ext cx="373075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CSS is preferred for responsive sizing, e.g. width:100%; aspect-ratio:16/9.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iframe name + link target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The iframe name creates a named browsing context. An anchor target can point to that name so clicked pages load inside the iframe.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href="home.html" target="viewer"&gt;Home&lt;/a&gt;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href="about.html" target="viewer"&gt;About&lt;/a&gt;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name="viewer" src="home.html"&gt;&lt;/iframe&gt;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Home   About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1968" y="2862072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[ viewer iframe: selected page loads here 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943600"/>
            <a:ext cx="11045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943600"/>
            <a:ext cx="64008" cy="41148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6473952"/>
            <a:ext cx="10661904" cy="-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Important: target is normally used on the &lt;a&gt; element, not as a standard iframe attribute. The iframe provides name="viewer".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iframe: frameborder (legacy)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frameborder was historically used to show/hide the iframe border. It is obsolete in HTML5; use CSS border instead.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39112"/>
            <a:ext cx="484632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Legacy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src="page.html" frameborder="0"&gt;&lt;/iframe&gt;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Modern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src="page.html" style="border:0"&gt;&lt;/iframe&gt;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16752" y="1508760"/>
            <a:ext cx="55961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16752" y="1508760"/>
            <a:ext cx="5596128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4224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5392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93992" y="1600200"/>
            <a:ext cx="463600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1655064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81344" y="2039112"/>
            <a:ext cx="5266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1072" y="237744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Embedded content without a visible border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Key points / attributes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4160520"/>
            <a:ext cx="3337560" cy="420624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42611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 / 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frameborder="0"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31920" y="4581144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46817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Legacy: no frame border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frameborder="1"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31920" y="5001768"/>
            <a:ext cx="3337560" cy="420624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51023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Legacy: border shown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5422392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55229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CSS border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31920" y="5422392"/>
            <a:ext cx="33375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55229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Modern and recommended approach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98080" y="3794760"/>
            <a:ext cx="41148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3794760"/>
            <a:ext cx="64008" cy="941832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Remember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99248" y="4325112"/>
            <a:ext cx="373075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Teach frameborder for reading old code, but write new code with CSS.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Navigation with Iframes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Use anchor links as a menu and a named iframe as the content viewport.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846320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href="html.html" target="content"&gt;HTML&lt;/a&gt;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href="css.html" target="content"&gt;CSS&lt;/a&gt;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href="js.html" target="content"&gt;JS&lt;/a&gt;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name="content" src="html.html"&gt;&lt;/iframe&gt;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5087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508760"/>
            <a:ext cx="64008" cy="68580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16733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1. User clicks “CSS”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2039112"/>
            <a:ext cx="4965192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The anchor has target="content".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4231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423160"/>
            <a:ext cx="64008" cy="68580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2587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2. Browser finds named iframe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81928" y="2953512"/>
            <a:ext cx="4965192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name="content" matches the target.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3375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337560"/>
            <a:ext cx="64008" cy="685800"/>
          </a:xfrm>
          <a:prstGeom prst="rect">
            <a:avLst/>
          </a:prstGeom>
          <a:solidFill>
            <a:srgbClr val="1D7A46"/>
          </a:solidFill>
          <a:ln w="12700">
            <a:solidFill>
              <a:srgbClr val="1D7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35021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3. css.html loads inside iframe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1928" y="3867912"/>
            <a:ext cx="4965192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The main page itself does not navigate away.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434340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4343400"/>
            <a:ext cx="5349240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27064" y="448970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8232" y="448970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448970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4434840"/>
            <a:ext cx="438912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48970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45352" y="4873752"/>
            <a:ext cx="5020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Result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5212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HTML   CSS   JS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565099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[ CSS lesson displayed here 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YouTube-style Video Page with iframe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A practical layout: video player on the left, related content/cards on the right.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4846320" cy="4480560"/>
          </a:xfrm>
          <a:prstGeom prst="roundRect">
            <a:avLst>
              <a:gd name="adj" fmla="val 1224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480560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 class="layout"&gt;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&lt;iframe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src="https://www.youtube.com/embed/VIDEO_ID"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title="YouTube video player"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allowfullscreen&gt;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&lt;/iframe&gt;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&lt;aside&gt;Related videos...&lt;/aside&gt;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3886200" cy="2331720"/>
          </a:xfrm>
          <a:prstGeom prst="roundRect">
            <a:avLst>
              <a:gd name="adj" fmla="val 2353"/>
            </a:avLst>
          </a:prstGeom>
          <a:solidFill>
            <a:srgbClr val="16151B"/>
          </a:solidFill>
          <a:ln w="12700">
            <a:solidFill>
              <a:srgbClr val="1615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59752" y="2240280"/>
            <a:ext cx="685800" cy="68580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33488" y="2395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23A48"/>
                </a:solidFill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40050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51F"/>
                </a:solidFill>
              </a:rPr>
              <a:t>HTML Links Explained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02368" y="1508760"/>
            <a:ext cx="1691640" cy="914400"/>
          </a:xfrm>
          <a:prstGeom prst="roundRect">
            <a:avLst>
              <a:gd name="adj" fmla="val 4000"/>
            </a:avLst>
          </a:prstGeom>
          <a:solidFill>
            <a:srgbClr val="E8DDF0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02368" y="24871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151F"/>
                </a:solidFill>
              </a:rPr>
              <a:t>Related Video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802368" y="2834640"/>
            <a:ext cx="1691640" cy="914400"/>
          </a:xfrm>
          <a:prstGeom prst="roundRect">
            <a:avLst>
              <a:gd name="adj" fmla="val 4000"/>
            </a:avLst>
          </a:prstGeom>
          <a:solidFill>
            <a:srgbClr val="DDE8F7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02368" y="38130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151F"/>
                </a:solidFill>
              </a:rPr>
              <a:t>Related Video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802368" y="4160520"/>
            <a:ext cx="1691640" cy="914400"/>
          </a:xfrm>
          <a:prstGeom prst="roundRect">
            <a:avLst>
              <a:gd name="adj" fmla="val 4000"/>
            </a:avLst>
          </a:prstGeom>
          <a:solidFill>
            <a:srgbClr val="E8DDF0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51389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151F"/>
                </a:solidFill>
              </a:rPr>
              <a:t>Related Video 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4754880"/>
            <a:ext cx="5824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4754880"/>
            <a:ext cx="64008" cy="123444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4919472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Embedding note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70448" y="5285232"/>
            <a:ext cx="5440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For YouTube, use the /embed/ URL format. Some sites block iframe embedding using security headers.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HTML &lt;table&gt;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Represents tabular data arranged into rows and columns. Use tables for data, not for general page layout.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&lt;th&gt;Name&lt;/th&gt;&lt;th&gt;Score&lt;/th&gt;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&lt;td&gt;Ayaan&lt;/td&gt;&lt;td&gt;92&lt;/td&gt;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Name         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01968" y="2862072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Ayaan         92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943600"/>
            <a:ext cx="11045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943600"/>
            <a:ext cx="64008" cy="41148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6473952"/>
            <a:ext cx="10661904" cy="-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Rows are created with &lt;tr&gt;. Header cells use &lt;th&gt;; data cells use &lt;td&gt;.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Table Anatomy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A semantic table can be divided into caption, header, body and footer sections.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7665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25400">
            <a:solidFill>
              <a:srgbClr val="5B2C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0020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65963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&lt;table&gt;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205740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057400"/>
            <a:ext cx="64008" cy="50292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2219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&lt;caption&gt;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2587752"/>
            <a:ext cx="5833872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Student Performance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697480"/>
            <a:ext cx="6217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697480"/>
            <a:ext cx="64008" cy="73152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862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&lt;thead&gt;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3227832"/>
            <a:ext cx="583387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&lt;tr&gt;  &lt;th&gt;Name&lt;/th&gt;  &lt;th&gt;Score&lt;/th&gt;  &lt;/tr&gt;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3611880"/>
            <a:ext cx="6217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611880"/>
            <a:ext cx="64008" cy="114300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7764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&lt;tbody&gt;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4142232"/>
            <a:ext cx="583387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&lt;tr&gt; &lt;td&gt;Ayaan&lt;/td&gt; &lt;td&gt;92&lt;/td&gt; &lt;/tr&gt;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&lt;tr&gt; &lt;td&gt;Zoya&lt;/td&gt; &lt;td&gt;88&lt;/td&gt; &lt;/tr&gt;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4937760"/>
            <a:ext cx="6217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4937760"/>
            <a:ext cx="64008" cy="685800"/>
          </a:xfrm>
          <a:prstGeom prst="rect">
            <a:avLst/>
          </a:prstGeom>
          <a:solidFill>
            <a:srgbClr val="1D7A46"/>
          </a:solidFill>
          <a:ln w="12700">
            <a:solidFill>
              <a:srgbClr val="1D7A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7008" y="51023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&lt;tfoot&gt;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5468112"/>
            <a:ext cx="5833872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&lt;tr&gt; &lt;td&gt;Average&lt;/td&gt; &lt;td&gt;90&lt;/td&gt; &lt;/tr&gt;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18120" y="150876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508760"/>
            <a:ext cx="64008" cy="443484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9288" y="16733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Why structure matters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19288" y="2039112"/>
            <a:ext cx="3319272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Easier to read and maintain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Better semantics for assistive technology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Enables section-specific styling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• Helps browsers understand table relationships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&lt;caption&gt;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Provides the table’s title/description and is normally the first child of &lt;table&gt;.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&lt;caption&gt;Monthly Sales&lt;/caption&gt;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Monthly Sales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&lt;thead&gt;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Groups the header rows of a table. It usually contains &lt;tr&gt; rows with &lt;th&gt; cells.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&lt;tr&gt;&lt;th&gt;Product&lt;/th&gt;&lt;th&gt;Price&lt;/th&gt;&lt;/tr&gt;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&lt;/thead&gt;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Product      Price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&lt;tbody&gt;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Groups the main data rows of the table.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&lt;tr&gt;&lt;td&gt;Keyboard&lt;/td&gt;&lt;td&gt;₹999&lt;/td&gt;&lt;/tr&gt;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&lt;/tbody&gt;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Keyboard     ₹999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&lt;tfoot&gt;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Groups summary/footer rows such as totals, averages or notes.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&lt;tfoot&gt;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&lt;tr&gt;&lt;td&gt;Total&lt;/td&gt;&lt;td&gt;₹2,499&lt;/td&gt;&lt;/tr&gt;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&lt;/tfoot&gt;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Total        ₹2,499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&lt;tr&gt;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Defines one table row. A row contains &lt;th&gt; and/or &lt;td&gt; cells.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&lt;td&gt;Adfar&lt;/td&gt;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&lt;td&gt;Instructor&lt;/td&gt;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Adfar        Instructor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&lt;th&gt;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Defines a header cell. Browsers typically render it bold and centered by default.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&lt;th&gt;Name&lt;/th&gt;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&lt;th&gt;Role&lt;/th&gt;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Name         Role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&lt;td&gt;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Defines a standard data cell inside a row.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32120" cy="4251960"/>
          </a:xfrm>
          <a:prstGeom prst="roundRect">
            <a:avLst>
              <a:gd name="adj" fmla="val 1290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278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516636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&lt;td&gt;Zoya&lt;/td&gt;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&lt;td&gt;Developer&lt;/td&gt;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7648" y="1554480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54480"/>
            <a:ext cx="5285232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0078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70078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70078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645920"/>
            <a:ext cx="4325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00784"/>
            <a:ext cx="3959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92240" y="2084832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242316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Zoya         Developer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&lt;colgroup&gt; and &lt;col&gt;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&lt;colgroup&gt; groups table columns so styles/properties can be applied to columns without repeating them on every cell.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937760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&lt;colgroup&gt;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&lt;col style="background:#f3e8ff"&gt;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&lt;col span="2" style="background:#eef6ff"&gt;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&lt;/colgroup&gt;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&lt;tr&gt;&lt;th&gt;Name&lt;/th&gt;&lt;th&gt;HTML&lt;/th&gt;&lt;th&gt;CSS&lt;/th&gt;&lt;/tr&gt;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&lt;tr&gt;&lt;td&gt;Ayaan&lt;/td&gt;&lt;td&gt;90&lt;/td&gt;&lt;td&gt;88&lt;/td&gt;&lt;/tr&gt;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1676400" cy="640080"/>
          </a:xfrm>
          <a:prstGeom prst="rect">
            <a:avLst/>
          </a:prstGeom>
          <a:solidFill>
            <a:srgbClr val="F0E5F6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205740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51F"/>
                </a:solidFill>
              </a:rPr>
              <a:t>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94320" y="1874520"/>
            <a:ext cx="1676400" cy="640080"/>
          </a:xfrm>
          <a:prstGeom prst="rect">
            <a:avLst/>
          </a:prstGeom>
          <a:solidFill>
            <a:srgbClr val="EAF2FC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67472" y="205740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51F"/>
                </a:solidFill>
              </a:rPr>
              <a:t>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70720" y="1874520"/>
            <a:ext cx="1676400" cy="640080"/>
          </a:xfrm>
          <a:prstGeom prst="rect">
            <a:avLst/>
          </a:prstGeom>
          <a:solidFill>
            <a:srgbClr val="EAF2FC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3872" y="205740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51F"/>
                </a:solidFill>
              </a:rPr>
              <a:t>CSS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1676400" cy="640080"/>
          </a:xfrm>
          <a:prstGeom prst="rect">
            <a:avLst/>
          </a:prstGeom>
          <a:solidFill>
            <a:srgbClr val="F0E5F6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69748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Ayaan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94320" y="2514600"/>
            <a:ext cx="1676400" cy="640080"/>
          </a:xfrm>
          <a:prstGeom prst="rect">
            <a:avLst/>
          </a:prstGeom>
          <a:solidFill>
            <a:srgbClr val="EAF2FC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67472" y="269748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90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70720" y="2514600"/>
            <a:ext cx="1676400" cy="640080"/>
          </a:xfrm>
          <a:prstGeom prst="rect">
            <a:avLst/>
          </a:prstGeom>
          <a:solidFill>
            <a:srgbClr val="EAF2FC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3872" y="269748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88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1676400" cy="640080"/>
          </a:xfrm>
          <a:prstGeom prst="rect">
            <a:avLst/>
          </a:prstGeom>
          <a:solidFill>
            <a:srgbClr val="F0E5F6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333756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Zoya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94320" y="3154680"/>
            <a:ext cx="1676400" cy="640080"/>
          </a:xfrm>
          <a:prstGeom prst="rect">
            <a:avLst/>
          </a:prstGeom>
          <a:solidFill>
            <a:srgbClr val="EAF2FC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67472" y="333756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94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70720" y="3154680"/>
            <a:ext cx="1676400" cy="640080"/>
          </a:xfrm>
          <a:prstGeom prst="rect">
            <a:avLst/>
          </a:prstGeom>
          <a:solidFill>
            <a:srgbClr val="EAF2FC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3872" y="3337560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91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2519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251960"/>
            <a:ext cx="64008" cy="123444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416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Use case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19088" y="4782312"/>
            <a:ext cx="46451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Highlight a category of columns, set column widths, or apply shared column-level styling.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Legacy Table Formatting Attributes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These attributes appear in older HTML. They are useful to recognize, but modern HTML uses CSS for presentation.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672840" cy="47548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17904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Attribute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67200" y="1417320"/>
            <a:ext cx="3672840" cy="47548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0352" y="1517904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controlled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940040" y="1417320"/>
            <a:ext cx="3672840" cy="47548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13192" y="1517904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Modern CSS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892808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993392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border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67200" y="1892808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0352" y="1993392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Outer/cell border thickness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40040" y="1892808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3192" y="1993392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border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2368296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468880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cellspacing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67200" y="2368296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0352" y="2468880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Space between cells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40040" y="2368296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3192" y="2468880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border-spacing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2843784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944368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cellpadding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67200" y="2843784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0352" y="2944368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Space inside cells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40040" y="2843784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3192" y="2944368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padding on th/td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3319272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419856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frame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67200" y="3319272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0352" y="3419856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Which outer table borders appear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40040" y="3319272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3192" y="3419856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border-*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3794760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3895344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rules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67200" y="3794760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352" y="3895344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Which internal grid lines appear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0040" y="3794760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3192" y="3895344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borders on rows/cells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" y="4270248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4370832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bgcolor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67200" y="4270248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0352" y="4370832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Background color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40040" y="4270248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13192" y="4370832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background-color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" y="4745736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4846320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background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267200" y="4745736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0352" y="4846320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Background image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940040" y="4745736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13192" y="4846320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background-image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4360" y="5221224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" y="5321808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align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67200" y="5221224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0352" y="5321808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Table/cell alignment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940040" y="5221224"/>
            <a:ext cx="3672840" cy="47548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13192" y="5321808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margin / text-align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94360" y="5696712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" y="5797296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width / height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267200" y="5696712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0352" y="5797296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Dimensions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0040" y="5696712"/>
            <a:ext cx="367284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13192" y="5797296"/>
            <a:ext cx="3526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width / height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94360" y="6263640"/>
            <a:ext cx="110185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4360" y="6263640"/>
            <a:ext cx="64008" cy="292608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5528" y="6793992"/>
            <a:ext cx="10634472" cy="-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Recommendation: demonstrate the legacy syntax, then show the CSS equivalent students should use in new projects.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border attribute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Legacy attribute that adds a visible border around a table/cells.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16636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Legacy 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80060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border="1"&gt;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3913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973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Modern CSS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325112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CSS: table, th, td { border: 1px solid #333;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55321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508760"/>
            <a:ext cx="5532120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600200"/>
            <a:ext cx="457200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655064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9632" y="2039112"/>
            <a:ext cx="5202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Name       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8163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Ayaan       92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2552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Zoya        88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0110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7425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border="1"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0110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425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Requests a border; exact rendering can vary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CSS border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0110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7425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Recommended modern approach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frame attribute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Legacy table attribute controlling which sides of the table’s outer border are visible.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16636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Legacy 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80060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border="1" frame="box"&gt;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3913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973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Modern CSS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325112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 legacy values: void, above, below, hsides, vsides, lhs, rhs, box/border.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55321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508760"/>
            <a:ext cx="5532120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600200"/>
            <a:ext cx="457200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655064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9632" y="2039112"/>
            <a:ext cx="5202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Name       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8163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Ayaan       92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2552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Zoya        88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0110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7425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frame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0110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425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Controls outer border sides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frame="box"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0110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7425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Shows all outer sides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rules attribute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Legacy table attribute controlling which internal grid lines are displayed.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16636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Legacy 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80060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border="1" rules="rows"&gt;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3913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973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Modern CSS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325112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 legacy values: none, groups, rows, cols, all.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55321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508760"/>
            <a:ext cx="5532120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600200"/>
            <a:ext cx="457200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655064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9632" y="2039112"/>
            <a:ext cx="5202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Name       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8163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Ayaan       92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2552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Zoya        88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0110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7425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rules="rows"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0110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425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Horizontal rules between rows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rules="cols"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0110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7425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Vertical rules between columns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6592824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6693408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rules="all"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801100" y="6592824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74252" y="6693408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Both directions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cellspacing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Legacy attribute that controls space between adjacent table cells.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16636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Legacy 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80060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cellspacing="10"&gt;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3913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973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Modern CSS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325112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 CSS: border-spacing: 10px;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55321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508760"/>
            <a:ext cx="5532120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600200"/>
            <a:ext cx="457200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655064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9632" y="2039112"/>
            <a:ext cx="5202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Name       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8163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Ayaan       92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2552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Zoya        88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0110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7425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cellspacing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0110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425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Space between cells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border-spacing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0110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7425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Modern CSS equivalent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cellpadding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Legacy attribute that controls space between cell content and the cell border.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166360" cy="2057400"/>
          </a:xfrm>
          <a:prstGeom prst="roundRect">
            <a:avLst>
              <a:gd name="adj" fmla="val 2667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Legacy 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80060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cellpadding="12"&gt;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3913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973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Modern CSS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325112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 CSS: th, td { padding: 12px;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55321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FC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508760"/>
            <a:ext cx="5532120" cy="438912"/>
          </a:xfrm>
          <a:prstGeom prst="rect">
            <a:avLst/>
          </a:prstGeom>
          <a:solidFill>
            <a:srgbClr val="ECEAF0"/>
          </a:solidFill>
          <a:ln w="12700">
            <a:solidFill>
              <a:srgbClr val="EC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655064"/>
            <a:ext cx="91440" cy="9144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655064"/>
            <a:ext cx="91440" cy="91440"/>
          </a:xfrm>
          <a:prstGeom prst="ellipse">
            <a:avLst/>
          </a:prstGeom>
          <a:solidFill>
            <a:srgbClr val="E2B04B"/>
          </a:solidFill>
          <a:ln w="12700">
            <a:solidFill>
              <a:srgbClr val="E2B0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55064"/>
            <a:ext cx="91440" cy="91440"/>
          </a:xfrm>
          <a:prstGeom prst="ellipse">
            <a:avLst/>
          </a:prstGeom>
          <a:solidFill>
            <a:srgbClr val="55B56A"/>
          </a:solidFill>
          <a:ln w="12700">
            <a:solidFill>
              <a:srgbClr val="55B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600200"/>
            <a:ext cx="457200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8D4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655064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184"/>
                </a:solidFill>
              </a:rPr>
              <a:t>http://127.0.0.1:5500/index.html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9632" y="2039112"/>
            <a:ext cx="5202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5D69"/>
                </a:solidFill>
              </a:rPr>
              <a:t>Chrome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Name       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8163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Ayaan       92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2552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9151F"/>
                </a:solidFill>
              </a:rPr>
              <a:t>Zoya        88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01100" y="5440680"/>
            <a:ext cx="2766060" cy="38404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74252" y="5541264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cellpadding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01100" y="5824728"/>
            <a:ext cx="27660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4252" y="5925312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Inner space inside every cell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padding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01100" y="6208776"/>
            <a:ext cx="2766060" cy="38404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74252" y="6309360"/>
            <a:ext cx="2619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Modern CSS equivalent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Table Background Color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Older HTML used bgcolor. Modern HTML uses CSS background-color on the table, row, or individual cells.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212080" cy="3474720"/>
          </a:xfrm>
          <a:prstGeom prst="roundRect">
            <a:avLst>
              <a:gd name="adj" fmla="val 1579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84632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Legacy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bgcolor="lightyellow"&gt;...&lt;/table&gt;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Modern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style="background-color: lightyellow"&gt;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2560320" cy="640080"/>
          </a:xfrm>
          <a:prstGeom prst="rect">
            <a:avLst/>
          </a:prstGeom>
          <a:solidFill>
            <a:srgbClr val="C99C28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192938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Course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41080" y="1828800"/>
            <a:ext cx="2560320" cy="640080"/>
          </a:xfrm>
          <a:prstGeom prst="rect">
            <a:avLst/>
          </a:prstGeom>
          <a:solidFill>
            <a:srgbClr val="C99C28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14232" y="192938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2468880"/>
            <a:ext cx="25603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256946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HTML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41080" y="2468880"/>
            <a:ext cx="25603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256946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Active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3108960"/>
            <a:ext cx="2560320" cy="640080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320954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CSS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41080" y="3108960"/>
            <a:ext cx="2560320" cy="640080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320954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Upcoming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41605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4160520"/>
            <a:ext cx="64008" cy="100584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4325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Scope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81928" y="4690872"/>
            <a:ext cx="4736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background-color can be applied to &lt;table&gt;, &lt;tr&gt;, &lt;th&gt;, or &lt;td&gt; depending on what you want to highlight.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Table Background Image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The old background attribute is obsolete. Use CSS background-image for a table background.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03520" cy="4114800"/>
          </a:xfrm>
          <a:prstGeom prst="roundRect">
            <a:avLst>
              <a:gd name="adj" fmla="val 1333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937760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Legacy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background="pattern.png"&gt;...&lt;/table&gt;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Modern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style="background-image:url('pattern.png');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background-size:cover;"&gt;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4892040" cy="2377440"/>
          </a:xfrm>
          <a:prstGeom prst="rect">
            <a:avLst/>
          </a:prstGeom>
          <a:solidFill>
            <a:srgbClr val="EEE7F5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745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18745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18745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21240" y="18745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5603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25603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25603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1240" y="25603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2461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32461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32461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3246120"/>
            <a:ext cx="164592" cy="164592"/>
          </a:xfrm>
          <a:prstGeom prst="ellipse">
            <a:avLst/>
          </a:prstGeom>
          <a:solidFill>
            <a:srgbClr val="D4C0E4"/>
          </a:solidFill>
          <a:ln w="12700">
            <a:solidFill>
              <a:srgbClr val="D4C0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2148840"/>
            <a:ext cx="2125980" cy="502920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2249424"/>
            <a:ext cx="19796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63940" y="2148840"/>
            <a:ext cx="2125980" cy="502920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7092" y="2249424"/>
            <a:ext cx="19796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2651760"/>
            <a:ext cx="21259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2752344"/>
            <a:ext cx="19796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Book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63940" y="2651760"/>
            <a:ext cx="21259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7092" y="2752344"/>
            <a:ext cx="19796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37960" y="3154680"/>
            <a:ext cx="2125980" cy="502920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3255264"/>
            <a:ext cx="19796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Pen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63940" y="3154680"/>
            <a:ext cx="2125980" cy="502920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7092" y="3255264"/>
            <a:ext cx="19796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38912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4389120"/>
            <a:ext cx="64008" cy="109728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45537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Readability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19088" y="4919472"/>
            <a:ext cx="450799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If you use an image, maintain enough contrast so cell text remains easy to read.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Table Alignment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Legacy align values positioned a table or aligned cell content. Modern CSS separates table positioning from text alignment.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937760" cy="3364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Legacy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align="center"&gt;...&lt;/table&gt;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 align="right"&gt;₹999&lt;/td&gt;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Modern CSS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{ margin-inline: auto;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td.price { text-align: right; 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508760"/>
            <a:ext cx="64008" cy="100584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Center the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3368" y="2039112"/>
            <a:ext cx="48280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table { margin-inline: auto;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69748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697480"/>
            <a:ext cx="64008" cy="100584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862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Align text inside cells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3227832"/>
            <a:ext cx="48280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th { text-align: left;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td.price { text-align: right; 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886200"/>
            <a:ext cx="64008" cy="1005840"/>
          </a:xfrm>
          <a:prstGeom prst="rect">
            <a:avLst/>
          </a:prstGeom>
          <a:solidFill>
            <a:srgbClr val="1D7A46"/>
          </a:solidFill>
          <a:ln w="12700">
            <a:solidFill>
              <a:srgbClr val="1D7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Vertical alignment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3368" y="4416552"/>
            <a:ext cx="48280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td { vertical-align: middle; 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Table Width and Height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HTML width/height attributes are legacy presentation hints. CSS gives better control and responsive behavior.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03520" cy="4160520"/>
          </a:xfrm>
          <a:prstGeom prst="roundRect">
            <a:avLst>
              <a:gd name="adj" fmla="val 1319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62763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8706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93776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Legacy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width="600" height="300"&gt;...&lt;/table&gt;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Modern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800px;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{ height: 56px; 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8463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2C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C83"/>
                </a:solidFill>
              </a:rPr>
              <a:t>width: 100%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122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51F"/>
                </a:solidFill>
              </a:rPr>
              <a:t>height comes from content or CSS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470916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4709160"/>
            <a:ext cx="64008" cy="100584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4873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Responsive rule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5239512"/>
            <a:ext cx="4462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Prefer width:100% with a max-width when a table should adapt to smaller screens.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Complete Modern Table Example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A semantic structure with modern CSS instead of obsolete presentation attributes.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669280" cy="5029200"/>
          </a:xfrm>
          <a:prstGeom prst="roundRect">
            <a:avLst>
              <a:gd name="adj" fmla="val 1091"/>
            </a:avLst>
          </a:prstGeom>
          <a:solidFill>
            <a:srgbClr val="16151B"/>
          </a:solidFill>
          <a:ln w="12700">
            <a:solidFill>
              <a:srgbClr val="2A29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536192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383641"/>
          </a:solidFill>
          <a:ln w="12700">
            <a:solidFill>
              <a:srgbClr val="3836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59562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5303520" cy="4370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class="students"&gt;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&lt;caption&gt;HTML Scores&lt;/caption&gt;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&lt;thead&gt;&lt;tr&gt;&lt;th&gt;Name&lt;/th&gt;&lt;th&gt;Score&lt;/th&gt;&lt;/tr&gt;&lt;/thead&gt;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&lt;tr&gt;&lt;td&gt;Ayaan&lt;/td&gt;&lt;td&gt;92&lt;/td&gt;&lt;/tr&gt;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&lt;tr&gt;&lt;td&gt;Zoya&lt;/td&gt;&lt;td&gt;88&lt;/td&gt;&lt;/tr&gt;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&lt;tfoot&gt;&lt;tr&gt;&lt;th&gt;Average&lt;/th&gt;&lt;td&gt;90&lt;/td&gt;&lt;/tr&gt;&lt;/tfoot&gt;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.students { width:100%; border-collapse:collapse;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.students th,.students td { border:1px solid #ccc; padding:10px;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F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37960" y="1828800"/>
            <a:ext cx="2286000" cy="65836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92938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823960" y="1828800"/>
            <a:ext cx="2286000" cy="658368"/>
          </a:xfrm>
          <a:prstGeom prst="rect">
            <a:avLst/>
          </a:prstGeom>
          <a:solidFill>
            <a:srgbClr val="5B2C83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7112" y="192938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2487168"/>
            <a:ext cx="22860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258775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Ayaan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23960" y="2487168"/>
            <a:ext cx="22860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97112" y="258775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92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3145536"/>
            <a:ext cx="2286000" cy="65836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3246120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Zoya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23960" y="3145536"/>
            <a:ext cx="2286000" cy="658368"/>
          </a:xfrm>
          <a:prstGeom prst="rect">
            <a:avLst/>
          </a:prstGeom>
          <a:solidFill>
            <a:srgbClr val="F3F0F6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3246120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88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37960" y="3803904"/>
            <a:ext cx="22860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3904488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Average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23960" y="3803904"/>
            <a:ext cx="22860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FCB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97112" y="3904488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151F"/>
                </a:solidFill>
              </a:rPr>
              <a:t>90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266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51F"/>
                </a:solidFill>
              </a:rPr>
              <a:t>HTML Scores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480060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4800600"/>
            <a:ext cx="64008" cy="1234440"/>
          </a:xfrm>
          <a:prstGeom prst="rect">
            <a:avLst/>
          </a:prstGeom>
          <a:solidFill>
            <a:srgbClr val="1D7A46"/>
          </a:solidFill>
          <a:ln w="12700">
            <a:solidFill>
              <a:srgbClr val="1D7A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4965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Key idea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39128" y="5330952"/>
            <a:ext cx="41879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Semantic HTML describes the data structure. CSS handles the visual presentation.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51F"/>
                </a:solidFill>
              </a:rPr>
              <a:t>Class Recap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D69"/>
                </a:solidFill>
              </a:rPr>
              <a:t>The mental model students should leave with.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50876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190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Links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84832"/>
            <a:ext cx="487375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&lt;a&gt; + href connects resources. #fragment = same document; paths/URLs = other resources.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54480"/>
            <a:ext cx="64008" cy="1508760"/>
          </a:xfrm>
          <a:prstGeom prst="rect">
            <a:avLst/>
          </a:prstGeom>
          <a:solidFill>
            <a:srgbClr val="2C5FB8"/>
          </a:solidFill>
          <a:ln w="12700">
            <a:solidFill>
              <a:srgbClr val="2C5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7190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Iframes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2084832"/>
            <a:ext cx="487375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&lt;iframe&gt; embeds a browsing context. name on iframe + target on anchor enables iframe navigation.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566160"/>
            <a:ext cx="64008" cy="1508760"/>
          </a:xfrm>
          <a:prstGeom prst="rect">
            <a:avLst/>
          </a:prstGeom>
          <a:solidFill>
            <a:srgbClr val="1D7A46"/>
          </a:solidFill>
          <a:ln w="12700">
            <a:solidFill>
              <a:srgbClr val="1D7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7307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Tables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096512"/>
            <a:ext cx="487375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Use &lt;table&gt;, rows and cells for tabular data; use semantic sections for structure.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566160"/>
            <a:ext cx="64008" cy="1508760"/>
          </a:xfrm>
          <a:prstGeom prst="rect">
            <a:avLst/>
          </a:prstGeom>
          <a:solidFill>
            <a:srgbClr val="C76520"/>
          </a:solidFill>
          <a:ln w="12700">
            <a:solidFill>
              <a:srgbClr val="C76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7307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F"/>
                </a:solidFill>
              </a:rPr>
              <a:t>Modern HTML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4096512"/>
            <a:ext cx="487375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D69"/>
                </a:solidFill>
              </a:rPr>
              <a:t>Recognize legacy attributes, but prefer CSS for borders, spacing, backgrounds, alignment and sizing.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PW IOI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Links, Iframes &amp; Tables | PW IOI</dc:title>
  <dc:subject>HTML Links, Iframes and Tables</dc:subject>
  <dc:creator>Adfar</dc:creator>
  <cp:lastModifiedBy>Adfar</cp:lastModifiedBy>
  <cp:revision>1</cp:revision>
  <dcterms:created xsi:type="dcterms:W3CDTF">2026-09-17T04:33:14Z</dcterms:created>
  <dcterms:modified xsi:type="dcterms:W3CDTF">2026-09-17T04:33:14Z</dcterms:modified>
</cp:coreProperties>
</file>