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PW SKILLS   ×   COLLEGE WALLAH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48640" y="2103120"/>
            <a:ext cx="110642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Regular Expressions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 HTML Forms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434340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Understanding the pattern attribute — one symbol at a time, building up to a complete password rule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5806440"/>
            <a:ext cx="4206240" cy="18288"/>
          </a:xfrm>
          <a:prstGeom prst="roundRect">
            <a:avLst>
              <a:gd fmla="val 16667" name="adj"/>
            </a:avLst>
          </a:prstGeom>
          <a:solidFill>
            <a:srgbClr val="6D2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48640" y="59436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Adfar Rasheed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Full-Stack Developer &amp; Tech Educator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This Deck Covers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Every step builds on the one before it — no symbol is used in an example before it has been explained.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1600200"/>
            <a:ext cx="11064240" cy="713232"/>
          </a:xfrm>
          <a:prstGeom prst="roundRect">
            <a:avLst>
              <a:gd fmla="val 10256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777240" y="1600200"/>
            <a:ext cx="8229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737360" y="1655064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pattern attribute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737360" y="1965960"/>
            <a:ext cx="9509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How HTML forms use regular expressions for client-side validation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48640" y="2423160"/>
            <a:ext cx="11064240" cy="713232"/>
          </a:xfrm>
          <a:prstGeom prst="roundRect">
            <a:avLst>
              <a:gd fmla="val 10256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777240" y="2423160"/>
            <a:ext cx="8229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737360" y="2478024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Basic metacharacters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737360" y="2788920"/>
            <a:ext cx="9509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? * + . \ | ( ) ^ [ ]  — nine symbols, one slide each, in this order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48640" y="3246120"/>
            <a:ext cx="11064240" cy="713232"/>
          </a:xfrm>
          <a:prstGeom prst="roundRect">
            <a:avLst>
              <a:gd fmla="val 10256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777240" y="3246120"/>
            <a:ext cx="8229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737360" y="3300984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Character class shorthands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737360" y="3611880"/>
            <a:ext cx="9509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\d  \D  \w  \W  \s  — shortcuts for the character classes just covered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" y="4069080"/>
            <a:ext cx="11064240" cy="713232"/>
          </a:xfrm>
          <a:prstGeom prst="roundRect">
            <a:avLst>
              <a:gd fmla="val 10256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777240" y="4069080"/>
            <a:ext cx="8229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737360" y="4123944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Quantifiers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737360" y="4434840"/>
            <a:ext cx="9509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{n}  {n,m}  {n,}  — controlling how many times something repeats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48640" y="4892040"/>
            <a:ext cx="11064240" cy="713232"/>
          </a:xfrm>
          <a:prstGeom prst="roundRect">
            <a:avLst>
              <a:gd fmla="val 10256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777240" y="4892040"/>
            <a:ext cx="8229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737360" y="4946904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Lookahead assertions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737360" y="5257800"/>
            <a:ext cx="9509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(?=...)  — four separate checks, taught one at a time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48640" y="5715000"/>
            <a:ext cx="11064240" cy="713232"/>
          </a:xfrm>
          <a:prstGeom prst="roundRect">
            <a:avLst>
              <a:gd fmla="val 10256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777240" y="5715000"/>
            <a:ext cx="8229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737360" y="5769864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Putting it together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737360" y="6080760"/>
            <a:ext cx="9509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Combining all four lookaheads into one complete password pattern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548640" y="2788920"/>
            <a:ext cx="11064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Basic Metacharacters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48640" y="37490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Nine symbols</a:t>
            </a:r>
            <a:endParaRPr i="1" sz="1500">
              <a:solidFill>
                <a:srgbClr val="3A3A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500"/>
              <a:buFont typeface="Calibri"/>
              <a:buNone/>
            </a:pPr>
            <a:r>
              <a:t/>
            </a:r>
            <a:endParaRPr i="1" sz="1500">
              <a:solidFill>
                <a:srgbClr val="3A3A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METACHARACTERS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Question Mark   </a:t>
            </a:r>
            <a:r>
              <a:rPr b="1" i="0" lang="en-US" sz="3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Makes the character or group right before it optional. It matches either zero occurrences or exactly one occurrence.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548640" y="2514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48640" y="276148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X?   →   zero or one 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548640" y="32735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HTML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548640" y="3529584"/>
            <a:ext cx="11064240" cy="566928"/>
          </a:xfrm>
          <a:prstGeom prst="roundRect">
            <a:avLst>
              <a:gd fmla="val 12903" name="adj"/>
            </a:avLst>
          </a:prstGeom>
          <a:solidFill>
            <a:srgbClr val="F5F5FA"/>
          </a:solidFill>
          <a:ln cap="flat" cmpd="sng" w="12700">
            <a:solidFill>
              <a:srgbClr val="E0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822960" y="3529584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 pattern="</a:t>
            </a:r>
            <a:r>
              <a:rPr b="1" i="0" lang="en-US" sz="14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colou?r</a:t>
            </a: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54864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E7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77724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✓  MATCHES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77724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colour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621792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644652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✗  DOES NOT MATCH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44652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colouur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METACHARACTERS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Asterisk   </a:t>
            </a:r>
            <a:r>
              <a:rPr b="1" i="0" lang="en-US" sz="3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Matches zero or more occurrences of the character or group right before it. There is no upper limit on how many times it can repeat.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548640" y="2514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548640" y="276148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X*   →   zero or more 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48640" y="32735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HTML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48640" y="3529584"/>
            <a:ext cx="11064240" cy="566928"/>
          </a:xfrm>
          <a:prstGeom prst="roundRect">
            <a:avLst>
              <a:gd fmla="val 12903" name="adj"/>
            </a:avLst>
          </a:prstGeom>
          <a:solidFill>
            <a:srgbClr val="F5F5FA"/>
          </a:solidFill>
          <a:ln cap="flat" cmpd="sng" w="12700">
            <a:solidFill>
              <a:srgbClr val="E0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822960" y="3529584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 pattern="</a:t>
            </a:r>
            <a:r>
              <a:rPr b="1" i="0" lang="en-US" sz="14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ab*c</a:t>
            </a: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4864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E7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77724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✓  MATCHES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77724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ac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abbbc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621792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644652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✗  DOES NOT MATCH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644652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abd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METACHARACTERS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Plus   </a:t>
            </a:r>
            <a:r>
              <a:rPr b="1" i="0" lang="en-US" sz="3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Matches one or more occurrences of the character or group right before it. Unlike the asterisk, at least one occurrence is required.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548640" y="2514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548640" y="276148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X+   →   one or more 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548640" y="32735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HTML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548640" y="3529584"/>
            <a:ext cx="11064240" cy="566928"/>
          </a:xfrm>
          <a:prstGeom prst="roundRect">
            <a:avLst>
              <a:gd fmla="val 12903" name="adj"/>
            </a:avLst>
          </a:prstGeom>
          <a:solidFill>
            <a:srgbClr val="F5F5FA"/>
          </a:solidFill>
          <a:ln cap="flat" cmpd="sng" w="12700">
            <a:solidFill>
              <a:srgbClr val="E0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822960" y="3529584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 pattern="</a:t>
            </a:r>
            <a:r>
              <a:rPr b="1" i="0" lang="en-US" sz="14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ab+c</a:t>
            </a: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54864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E7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77724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✓  MATCHES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77724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abc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abbc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621792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644652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✗  DOES NOT MATCH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644652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ac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METACHARACTERS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Dot   </a:t>
            </a:r>
            <a:r>
              <a:rPr b="1" i="0" lang="en-US" sz="3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Matches any single character except a line break. It stands in for exactly one character, no matter what that character is.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548640" y="2514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548640" y="276148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X.Y   →   X, any one character, 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548640" y="32735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HTML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548640" y="3529584"/>
            <a:ext cx="11064240" cy="566928"/>
          </a:xfrm>
          <a:prstGeom prst="roundRect">
            <a:avLst>
              <a:gd fmla="val 12903" name="adj"/>
            </a:avLst>
          </a:prstGeom>
          <a:solidFill>
            <a:srgbClr val="F5F5FA"/>
          </a:solidFill>
          <a:ln cap="flat" cmpd="sng" w="12700">
            <a:solidFill>
              <a:srgbClr val="E0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822960" y="3529584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 pattern="</a:t>
            </a:r>
            <a:r>
              <a:rPr b="1" i="0" lang="en-US" sz="14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a.c</a:t>
            </a: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54864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E7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77724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✓  MATCHES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77724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abc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a9c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621792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644652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✗  DOES NOT MATCH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644652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ac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METACHARACTERS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Backslash   </a:t>
            </a:r>
            <a:r>
              <a:rPr b="1" i="0" lang="en-US" sz="3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\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The escape character. Placed before a symbol, it removes that symbol's special meaning so it is matched literally instead.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548640" y="2514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548640" y="276148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\X   →   match X literally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548640" y="3273552"/>
            <a:ext cx="11064240" cy="502920"/>
          </a:xfrm>
          <a:prstGeom prst="roundRect">
            <a:avLst>
              <a:gd fmla="val 10909" name="adj"/>
            </a:avLst>
          </a:prstGeom>
          <a:solidFill>
            <a:srgbClr val="FEF6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822960" y="327355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A6D00"/>
                </a:solidFill>
                <a:latin typeface="Calibri"/>
                <a:ea typeface="Calibri"/>
                <a:cs typeface="Calibri"/>
                <a:sym typeface="Calibri"/>
              </a:rPr>
              <a:t>Here the backslash escapes the dot from the previous slide, so it matches a literal full stop instead of "any character".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548640" y="391363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HTML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548640" y="4169664"/>
            <a:ext cx="11064240" cy="566928"/>
          </a:xfrm>
          <a:prstGeom prst="roundRect">
            <a:avLst>
              <a:gd fmla="val 12903" name="adj"/>
            </a:avLst>
          </a:prstGeom>
          <a:solidFill>
            <a:srgbClr val="F5F5FA"/>
          </a:solidFill>
          <a:ln cap="flat" cmpd="sng" w="12700">
            <a:solidFill>
              <a:srgbClr val="E0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822960" y="4169664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 pattern="</a:t>
            </a:r>
            <a:r>
              <a:rPr b="1" i="0" lang="en-US" sz="14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1\.5</a:t>
            </a: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548640" y="488289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E7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777240" y="499262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✓  MATCHES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777240" y="532180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1.5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6217920" y="488289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6446520" y="499262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✗  DOES NOT MATCH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6446520" y="532180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1x5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METACHARACTERS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Pipe   </a:t>
            </a:r>
            <a:r>
              <a:rPr b="1" i="0" lang="en-US" sz="3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The alternation operator, meaning "or". It matches whichever side of the pipe produces a successful match.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548640" y="2514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548640" y="276148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X|Y   →   X or 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548640" y="32735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HTML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548640" y="3529584"/>
            <a:ext cx="11064240" cy="566928"/>
          </a:xfrm>
          <a:prstGeom prst="roundRect">
            <a:avLst>
              <a:gd fmla="val 12903" name="adj"/>
            </a:avLst>
          </a:prstGeom>
          <a:solidFill>
            <a:srgbClr val="F5F5FA"/>
          </a:solidFill>
          <a:ln cap="flat" cmpd="sng" w="12700">
            <a:solidFill>
              <a:srgbClr val="E0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822960" y="3529584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 pattern="</a:t>
            </a:r>
            <a:r>
              <a:rPr b="1" i="0" lang="en-US" sz="14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cat|dog</a:t>
            </a: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54864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E7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77724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✓  MATCHES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77724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cat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dog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621792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644652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✗  DOES NOT MATCH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644652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cow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METACHARACTERS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Parentheses   </a:t>
            </a:r>
            <a:r>
              <a:rPr b="1" i="0" lang="en-US" sz="3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( 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Groups part of a pattern together, so a quantifier applies to the entire group rather than to a single character.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548640" y="2514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548640" y="276148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(X)+   →   one or more of group 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548640" y="3273552"/>
            <a:ext cx="11064240" cy="502920"/>
          </a:xfrm>
          <a:prstGeom prst="roundRect">
            <a:avLst>
              <a:gd fmla="val 10909" name="adj"/>
            </a:avLst>
          </a:prstGeom>
          <a:solidFill>
            <a:srgbClr val="FEF6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822960" y="327355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A6D00"/>
                </a:solidFill>
                <a:latin typeface="Calibri"/>
                <a:ea typeface="Calibri"/>
                <a:cs typeface="Calibri"/>
                <a:sym typeface="Calibri"/>
              </a:rPr>
              <a:t>This reuses the + from the earlier slide — grouping lets + apply to the whole pair "ab" instead of just "b".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548640" y="391363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HTML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548640" y="4169664"/>
            <a:ext cx="11064240" cy="566928"/>
          </a:xfrm>
          <a:prstGeom prst="roundRect">
            <a:avLst>
              <a:gd fmla="val 12903" name="adj"/>
            </a:avLst>
          </a:prstGeom>
          <a:solidFill>
            <a:srgbClr val="F5F5FA"/>
          </a:solidFill>
          <a:ln cap="flat" cmpd="sng" w="12700">
            <a:solidFill>
              <a:srgbClr val="E0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822960" y="4169664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 pattern="</a:t>
            </a:r>
            <a:r>
              <a:rPr b="1" i="0" lang="en-US" sz="14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(ab)+</a:t>
            </a: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548640" y="488289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E7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777240" y="499262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✓  MATCHES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777240" y="532180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ab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abab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6217920" y="488289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6446520" y="499262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✗  DOES NOT MATCH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6446520" y="532180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aabb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METACHARACTERS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Caret   </a:t>
            </a:r>
            <a:r>
              <a:rPr b="1" i="0" lang="en-US" sz="3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^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Anchors the match to the start of the string. Whatever comes right after it must appear at the very beginning of the value.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548640" y="2514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548640" y="276148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^X   →   value must start with 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548640" y="32735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HTML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548640" y="3529584"/>
            <a:ext cx="11064240" cy="566928"/>
          </a:xfrm>
          <a:prstGeom prst="roundRect">
            <a:avLst>
              <a:gd fmla="val 12903" name="adj"/>
            </a:avLst>
          </a:prstGeom>
          <a:solidFill>
            <a:srgbClr val="F5F5FA"/>
          </a:solidFill>
          <a:ln cap="flat" cmpd="sng" w="12700">
            <a:solidFill>
              <a:srgbClr val="E0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3"/>
          <p:cNvSpPr/>
          <p:nvPr/>
        </p:nvSpPr>
        <p:spPr>
          <a:xfrm>
            <a:off x="822960" y="3529584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 pattern="</a:t>
            </a:r>
            <a:r>
              <a:rPr b="1" i="0" lang="en-US" sz="14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^Hello</a:t>
            </a: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54864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E7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"/>
          <p:cNvSpPr/>
          <p:nvPr/>
        </p:nvSpPr>
        <p:spPr>
          <a:xfrm>
            <a:off x="77724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✓  MATCHES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77724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Hello World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621792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"/>
          <p:cNvSpPr/>
          <p:nvPr/>
        </p:nvSpPr>
        <p:spPr>
          <a:xfrm>
            <a:off x="644652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✗  DOES NOT MATCH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644652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Say Hello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METACHARACTERS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Square Brackets   </a:t>
            </a:r>
            <a:r>
              <a:rPr b="1" i="0" lang="en-US" sz="3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[ ]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"/>
          <p:cNvSpPr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Defines a character class — a set of characters where any single one of them can satisfy that position in the pattern.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548640" y="2514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548640" y="276148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[set]   →   any one character from the set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548640" y="3273552"/>
            <a:ext cx="11064240" cy="502920"/>
          </a:xfrm>
          <a:prstGeom prst="roundRect">
            <a:avLst>
              <a:gd fmla="val 10909" name="adj"/>
            </a:avLst>
          </a:prstGeom>
          <a:solidFill>
            <a:srgbClr val="FEF6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822960" y="327355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A6D00"/>
                </a:solidFill>
                <a:latin typeface="Calibri"/>
                <a:ea typeface="Calibri"/>
                <a:cs typeface="Calibri"/>
                <a:sym typeface="Calibri"/>
              </a:rPr>
              <a:t>A hyphen placed between two characters inside brackets creates a range instead — [a-z] or [0-9], for example — rather than a literal hyphen.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548640" y="391363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HTML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548640" y="4169664"/>
            <a:ext cx="11064240" cy="566928"/>
          </a:xfrm>
          <a:prstGeom prst="roundRect">
            <a:avLst>
              <a:gd fmla="val 12903" name="adj"/>
            </a:avLst>
          </a:prstGeom>
          <a:solidFill>
            <a:srgbClr val="F5F5FA"/>
          </a:solidFill>
          <a:ln cap="flat" cmpd="sng" w="12700">
            <a:solidFill>
              <a:srgbClr val="E0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822960" y="4169664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 pattern="</a:t>
            </a:r>
            <a:r>
              <a:rPr b="1" i="0" lang="en-US" sz="14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[aeiou]</a:t>
            </a: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548640" y="488289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E7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"/>
          <p:cNvSpPr/>
          <p:nvPr/>
        </p:nvSpPr>
        <p:spPr>
          <a:xfrm>
            <a:off x="777240" y="499262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✓  MATCHES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777240" y="532180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6217920" y="488289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"/>
          <p:cNvSpPr/>
          <p:nvPr/>
        </p:nvSpPr>
        <p:spPr>
          <a:xfrm>
            <a:off x="6446520" y="499262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✗  DOES NOT MATCH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6446520" y="532180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"/>
          <p:cNvSpPr/>
          <p:nvPr/>
        </p:nvSpPr>
        <p:spPr>
          <a:xfrm>
            <a:off x="548640" y="2788920"/>
            <a:ext cx="11064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Character Class Shorthands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548640" y="37490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Shortcuts for the character classes already covered in the previous section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CHARACTER CLASS SHORTHANDS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6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Digit Shorthand   </a:t>
            </a:r>
            <a:r>
              <a:rPr b="1" i="0" lang="en-US" sz="3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\d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6"/>
          <p:cNvSpPr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Shorthand for any digit character. It is exactly equivalent to writing the character class [0-9] from the previous slide.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548640" y="2514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6"/>
          <p:cNvSpPr/>
          <p:nvPr/>
        </p:nvSpPr>
        <p:spPr>
          <a:xfrm>
            <a:off x="548640" y="276148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\d   ≡   [0-9]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548640" y="32735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HTML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548640" y="3529584"/>
            <a:ext cx="11064240" cy="566928"/>
          </a:xfrm>
          <a:prstGeom prst="roundRect">
            <a:avLst>
              <a:gd fmla="val 12903" name="adj"/>
            </a:avLst>
          </a:prstGeom>
          <a:solidFill>
            <a:srgbClr val="F5F5FA"/>
          </a:solidFill>
          <a:ln cap="flat" cmpd="sng" w="12700">
            <a:solidFill>
              <a:srgbClr val="E0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6"/>
          <p:cNvSpPr/>
          <p:nvPr/>
        </p:nvSpPr>
        <p:spPr>
          <a:xfrm>
            <a:off x="822960" y="3529584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 pattern="</a:t>
            </a:r>
            <a:r>
              <a:rPr b="1" i="0" lang="en-US" sz="14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\d+</a:t>
            </a: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54864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E7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6"/>
          <p:cNvSpPr/>
          <p:nvPr/>
        </p:nvSpPr>
        <p:spPr>
          <a:xfrm>
            <a:off x="77724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✓  MATCHES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77724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42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621792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"/>
          <p:cNvSpPr/>
          <p:nvPr/>
        </p:nvSpPr>
        <p:spPr>
          <a:xfrm>
            <a:off x="644652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✗  DOES NOT MATCH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644652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abc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CHARACTER CLASS SHORTHANDS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7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Non-Digit Shorthand   </a:t>
            </a:r>
            <a:r>
              <a:rPr b="1" i="0" lang="en-US" sz="3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\D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7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7"/>
          <p:cNvSpPr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Shorthand for any character that is not a digit. It is exactly equivalent to the negated class [^0-9].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548640" y="2514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548640" y="276148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\D   ≡   [^0-9]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548640" y="32735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HTML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548640" y="3529584"/>
            <a:ext cx="11064240" cy="566928"/>
          </a:xfrm>
          <a:prstGeom prst="roundRect">
            <a:avLst>
              <a:gd fmla="val 12903" name="adj"/>
            </a:avLst>
          </a:prstGeom>
          <a:solidFill>
            <a:srgbClr val="F5F5FA"/>
          </a:solidFill>
          <a:ln cap="flat" cmpd="sng" w="12700">
            <a:solidFill>
              <a:srgbClr val="E0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7"/>
          <p:cNvSpPr/>
          <p:nvPr/>
        </p:nvSpPr>
        <p:spPr>
          <a:xfrm>
            <a:off x="822960" y="3529584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 pattern="</a:t>
            </a:r>
            <a:r>
              <a:rPr b="1" i="0" lang="en-US" sz="14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\D+</a:t>
            </a: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54864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E7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7"/>
          <p:cNvSpPr/>
          <p:nvPr/>
        </p:nvSpPr>
        <p:spPr>
          <a:xfrm>
            <a:off x="77724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✓  MATCHES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77724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Hello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621792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7"/>
          <p:cNvSpPr/>
          <p:nvPr/>
        </p:nvSpPr>
        <p:spPr>
          <a:xfrm>
            <a:off x="644652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✗  DOES NOT MATCH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644652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Hello123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8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CHARACTER CLASS SHORTHANDS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Word Character Shorthand   </a:t>
            </a:r>
            <a:r>
              <a:rPr b="1" i="0" lang="en-US" sz="3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\w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8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8"/>
          <p:cNvSpPr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Shorthand for any word character — letters, digits, and the underscore. Equivalent to the class [A-Za-z0-9_].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8"/>
          <p:cNvSpPr/>
          <p:nvPr/>
        </p:nvSpPr>
        <p:spPr>
          <a:xfrm>
            <a:off x="548640" y="2514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548640" y="276148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\w   ≡   [A-Za-z0-9_]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8"/>
          <p:cNvSpPr/>
          <p:nvPr/>
        </p:nvSpPr>
        <p:spPr>
          <a:xfrm>
            <a:off x="548640" y="32735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HTML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8"/>
          <p:cNvSpPr/>
          <p:nvPr/>
        </p:nvSpPr>
        <p:spPr>
          <a:xfrm>
            <a:off x="548640" y="3529584"/>
            <a:ext cx="11064240" cy="566928"/>
          </a:xfrm>
          <a:prstGeom prst="roundRect">
            <a:avLst>
              <a:gd fmla="val 12903" name="adj"/>
            </a:avLst>
          </a:prstGeom>
          <a:solidFill>
            <a:srgbClr val="F5F5FA"/>
          </a:solidFill>
          <a:ln cap="flat" cmpd="sng" w="12700">
            <a:solidFill>
              <a:srgbClr val="E0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8"/>
          <p:cNvSpPr/>
          <p:nvPr/>
        </p:nvSpPr>
        <p:spPr>
          <a:xfrm>
            <a:off x="822960" y="3529584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 pattern="</a:t>
            </a:r>
            <a:r>
              <a:rPr b="1" i="0" lang="en-US" sz="14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\w+</a:t>
            </a: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54864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E7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8"/>
          <p:cNvSpPr/>
          <p:nvPr/>
        </p:nvSpPr>
        <p:spPr>
          <a:xfrm>
            <a:off x="77724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✓  MATCHES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77724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user_01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621792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8"/>
          <p:cNvSpPr/>
          <p:nvPr/>
        </p:nvSpPr>
        <p:spPr>
          <a:xfrm>
            <a:off x="644652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✗  DOES NOT MATCH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644652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user 01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9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CHARACTER CLASS SHORTHANDS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9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Non-Word Shorthand   </a:t>
            </a:r>
            <a:r>
              <a:rPr b="1" i="0" lang="en-US" sz="3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\W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9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9"/>
          <p:cNvSpPr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Shorthand for any character that is not a word character. Equivalent to the negated class [^A-Za-z0-9_].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9"/>
          <p:cNvSpPr/>
          <p:nvPr/>
        </p:nvSpPr>
        <p:spPr>
          <a:xfrm>
            <a:off x="548640" y="2514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9"/>
          <p:cNvSpPr/>
          <p:nvPr/>
        </p:nvSpPr>
        <p:spPr>
          <a:xfrm>
            <a:off x="548640" y="276148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\W   ≡   [^A-Za-z0-9_]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548640" y="32735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HTML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548640" y="3529584"/>
            <a:ext cx="11064240" cy="566928"/>
          </a:xfrm>
          <a:prstGeom prst="roundRect">
            <a:avLst>
              <a:gd fmla="val 12903" name="adj"/>
            </a:avLst>
          </a:prstGeom>
          <a:solidFill>
            <a:srgbClr val="F5F5FA"/>
          </a:solidFill>
          <a:ln cap="flat" cmpd="sng" w="12700">
            <a:solidFill>
              <a:srgbClr val="E0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9"/>
          <p:cNvSpPr/>
          <p:nvPr/>
        </p:nvSpPr>
        <p:spPr>
          <a:xfrm>
            <a:off x="822960" y="3529584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 pattern="</a:t>
            </a:r>
            <a:r>
              <a:rPr b="1" i="0" lang="en-US" sz="14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\W</a:t>
            </a: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54864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E7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9"/>
          <p:cNvSpPr/>
          <p:nvPr/>
        </p:nvSpPr>
        <p:spPr>
          <a:xfrm>
            <a:off x="77724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✓  MATCHES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777240" y="4693888"/>
            <a:ext cx="4937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621792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9"/>
          <p:cNvSpPr/>
          <p:nvPr/>
        </p:nvSpPr>
        <p:spPr>
          <a:xfrm>
            <a:off x="644652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✗  DOES NOT MATCH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644652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CHARACTER CLASS SHORTHANDS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Whitespace Shorthand   </a:t>
            </a:r>
            <a:r>
              <a:rPr b="1" i="0" lang="en-US" sz="3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\s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0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0"/>
          <p:cNvSpPr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Shorthand for a whitespace character such as a space or tab. Its uppercase form, \S, matches anything that is not whitespace.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548640" y="2514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548640" y="276148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\s = whitespace      \S = not whitespace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548640" y="32735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HTML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548640" y="3529584"/>
            <a:ext cx="11064240" cy="566928"/>
          </a:xfrm>
          <a:prstGeom prst="roundRect">
            <a:avLst>
              <a:gd fmla="val 12903" name="adj"/>
            </a:avLst>
          </a:prstGeom>
          <a:solidFill>
            <a:srgbClr val="F5F5FA"/>
          </a:solidFill>
          <a:ln cap="flat" cmpd="sng" w="12700">
            <a:solidFill>
              <a:srgbClr val="E0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0"/>
          <p:cNvSpPr/>
          <p:nvPr/>
        </p:nvSpPr>
        <p:spPr>
          <a:xfrm>
            <a:off x="822960" y="3529584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 pattern="</a:t>
            </a:r>
            <a:r>
              <a:rPr b="1" i="0" lang="en-US" sz="14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\S+</a:t>
            </a: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0"/>
          <p:cNvSpPr/>
          <p:nvPr/>
        </p:nvSpPr>
        <p:spPr>
          <a:xfrm>
            <a:off x="54864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E7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0"/>
          <p:cNvSpPr/>
          <p:nvPr/>
        </p:nvSpPr>
        <p:spPr>
          <a:xfrm>
            <a:off x="77724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✓  MATCHES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0"/>
          <p:cNvSpPr/>
          <p:nvPr/>
        </p:nvSpPr>
        <p:spPr>
          <a:xfrm>
            <a:off x="77724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hello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621792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0"/>
          <p:cNvSpPr/>
          <p:nvPr/>
        </p:nvSpPr>
        <p:spPr>
          <a:xfrm>
            <a:off x="644652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✗  DOES NOT MATCH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644652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hello world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1"/>
          <p:cNvSpPr/>
          <p:nvPr/>
        </p:nvSpPr>
        <p:spPr>
          <a:xfrm>
            <a:off x="548640" y="2788920"/>
            <a:ext cx="11064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Quantifiers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1"/>
          <p:cNvSpPr/>
          <p:nvPr/>
        </p:nvSpPr>
        <p:spPr>
          <a:xfrm>
            <a:off x="548640" y="37490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Controlling exactly how many times a character or group may repeat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1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QUANTIFIERS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2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Exact Count   </a:t>
            </a:r>
            <a:r>
              <a:rPr b="1" i="0" lang="en-US" sz="3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{n}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2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2"/>
          <p:cNvSpPr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An exact-count quantifier. The character or group right before it must occur exactly n times, no more and no less.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2"/>
          <p:cNvSpPr/>
          <p:nvPr/>
        </p:nvSpPr>
        <p:spPr>
          <a:xfrm>
            <a:off x="548640" y="2514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2"/>
          <p:cNvSpPr/>
          <p:nvPr/>
        </p:nvSpPr>
        <p:spPr>
          <a:xfrm>
            <a:off x="548640" y="276148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X{n}   →   exactly n times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2"/>
          <p:cNvSpPr/>
          <p:nvPr/>
        </p:nvSpPr>
        <p:spPr>
          <a:xfrm>
            <a:off x="548640" y="32735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HTML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2"/>
          <p:cNvSpPr/>
          <p:nvPr/>
        </p:nvSpPr>
        <p:spPr>
          <a:xfrm>
            <a:off x="548640" y="3529584"/>
            <a:ext cx="11064240" cy="566928"/>
          </a:xfrm>
          <a:prstGeom prst="roundRect">
            <a:avLst>
              <a:gd fmla="val 12903" name="adj"/>
            </a:avLst>
          </a:prstGeom>
          <a:solidFill>
            <a:srgbClr val="F5F5FA"/>
          </a:solidFill>
          <a:ln cap="flat" cmpd="sng" w="12700">
            <a:solidFill>
              <a:srgbClr val="E0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2"/>
          <p:cNvSpPr/>
          <p:nvPr/>
        </p:nvSpPr>
        <p:spPr>
          <a:xfrm>
            <a:off x="822960" y="3529584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 pattern="</a:t>
            </a:r>
            <a:r>
              <a:rPr b="1" i="0" lang="en-US" sz="14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\d{4}</a:t>
            </a: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2"/>
          <p:cNvSpPr/>
          <p:nvPr/>
        </p:nvSpPr>
        <p:spPr>
          <a:xfrm>
            <a:off x="54864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E7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2"/>
          <p:cNvSpPr/>
          <p:nvPr/>
        </p:nvSpPr>
        <p:spPr>
          <a:xfrm>
            <a:off x="77724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✓  MATCHES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2"/>
          <p:cNvSpPr/>
          <p:nvPr/>
        </p:nvSpPr>
        <p:spPr>
          <a:xfrm>
            <a:off x="77724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2026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2"/>
          <p:cNvSpPr/>
          <p:nvPr/>
        </p:nvSpPr>
        <p:spPr>
          <a:xfrm>
            <a:off x="621792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2"/>
          <p:cNvSpPr/>
          <p:nvPr/>
        </p:nvSpPr>
        <p:spPr>
          <a:xfrm>
            <a:off x="644652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✗  DOES NOT MATCH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644652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202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2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QUANTIFIERS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3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Range Count   </a:t>
            </a:r>
            <a:r>
              <a:rPr b="1" i="0" lang="en-US" sz="3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{n,m}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3"/>
          <p:cNvSpPr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A range-count quantifier. The character or group right before it must occur at least n times and at most m times.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3"/>
          <p:cNvSpPr/>
          <p:nvPr/>
        </p:nvSpPr>
        <p:spPr>
          <a:xfrm>
            <a:off x="548640" y="2514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3"/>
          <p:cNvSpPr/>
          <p:nvPr/>
        </p:nvSpPr>
        <p:spPr>
          <a:xfrm>
            <a:off x="548640" y="276148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X{n,m}   →   between n and m times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3"/>
          <p:cNvSpPr/>
          <p:nvPr/>
        </p:nvSpPr>
        <p:spPr>
          <a:xfrm>
            <a:off x="548640" y="32735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HTML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3"/>
          <p:cNvSpPr/>
          <p:nvPr/>
        </p:nvSpPr>
        <p:spPr>
          <a:xfrm>
            <a:off x="548640" y="3529584"/>
            <a:ext cx="11064240" cy="566928"/>
          </a:xfrm>
          <a:prstGeom prst="roundRect">
            <a:avLst>
              <a:gd fmla="val 12903" name="adj"/>
            </a:avLst>
          </a:prstGeom>
          <a:solidFill>
            <a:srgbClr val="F5F5FA"/>
          </a:solidFill>
          <a:ln cap="flat" cmpd="sng" w="12700">
            <a:solidFill>
              <a:srgbClr val="E0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3"/>
          <p:cNvSpPr/>
          <p:nvPr/>
        </p:nvSpPr>
        <p:spPr>
          <a:xfrm>
            <a:off x="822960" y="3529584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type="password" pattern="</a:t>
            </a:r>
            <a:r>
              <a:rPr b="1" i="0" lang="en-US" sz="14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.{8,16}</a:t>
            </a: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3"/>
          <p:cNvSpPr/>
          <p:nvPr/>
        </p:nvSpPr>
        <p:spPr>
          <a:xfrm>
            <a:off x="54864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E7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3"/>
          <p:cNvSpPr/>
          <p:nvPr/>
        </p:nvSpPr>
        <p:spPr>
          <a:xfrm>
            <a:off x="77724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✓  MATCHES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3"/>
          <p:cNvSpPr/>
          <p:nvPr/>
        </p:nvSpPr>
        <p:spPr>
          <a:xfrm>
            <a:off x="77724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mypassword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3"/>
          <p:cNvSpPr/>
          <p:nvPr/>
        </p:nvSpPr>
        <p:spPr>
          <a:xfrm>
            <a:off x="621792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3"/>
          <p:cNvSpPr/>
          <p:nvPr/>
        </p:nvSpPr>
        <p:spPr>
          <a:xfrm>
            <a:off x="644652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✗  DOES NOT MATCH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3"/>
          <p:cNvSpPr/>
          <p:nvPr/>
        </p:nvSpPr>
        <p:spPr>
          <a:xfrm>
            <a:off x="644652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short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3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4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QUANTIFIERS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Minimum Count   </a:t>
            </a:r>
            <a:r>
              <a:rPr b="1" i="0" lang="en-US" sz="3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{n,}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4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4"/>
          <p:cNvSpPr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A minimum-count quantifier with no upper limit. The character or group right before it must occur at least n times.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4"/>
          <p:cNvSpPr/>
          <p:nvPr/>
        </p:nvSpPr>
        <p:spPr>
          <a:xfrm>
            <a:off x="548640" y="2514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4"/>
          <p:cNvSpPr/>
          <p:nvPr/>
        </p:nvSpPr>
        <p:spPr>
          <a:xfrm>
            <a:off x="548640" y="276148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X{n,}   →   n or more times, no maximum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4"/>
          <p:cNvSpPr/>
          <p:nvPr/>
        </p:nvSpPr>
        <p:spPr>
          <a:xfrm>
            <a:off x="548640" y="32735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HTML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4"/>
          <p:cNvSpPr/>
          <p:nvPr/>
        </p:nvSpPr>
        <p:spPr>
          <a:xfrm>
            <a:off x="548640" y="3529584"/>
            <a:ext cx="11064240" cy="566928"/>
          </a:xfrm>
          <a:prstGeom prst="roundRect">
            <a:avLst>
              <a:gd fmla="val 12903" name="adj"/>
            </a:avLst>
          </a:prstGeom>
          <a:solidFill>
            <a:srgbClr val="F5F5FA"/>
          </a:solidFill>
          <a:ln cap="flat" cmpd="sng" w="12700">
            <a:solidFill>
              <a:srgbClr val="E0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4"/>
          <p:cNvSpPr/>
          <p:nvPr/>
        </p:nvSpPr>
        <p:spPr>
          <a:xfrm>
            <a:off x="822960" y="3529584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type="password" pattern="</a:t>
            </a:r>
            <a:r>
              <a:rPr b="1" i="0" lang="en-US" sz="14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.{8,}</a:t>
            </a: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4"/>
          <p:cNvSpPr/>
          <p:nvPr/>
        </p:nvSpPr>
        <p:spPr>
          <a:xfrm>
            <a:off x="54864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E7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4"/>
          <p:cNvSpPr/>
          <p:nvPr/>
        </p:nvSpPr>
        <p:spPr>
          <a:xfrm>
            <a:off x="77724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✓  MATCHES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4"/>
          <p:cNvSpPr/>
          <p:nvPr/>
        </p:nvSpPr>
        <p:spPr>
          <a:xfrm>
            <a:off x="77724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verylongpassword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621792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4"/>
          <p:cNvSpPr/>
          <p:nvPr/>
        </p:nvSpPr>
        <p:spPr>
          <a:xfrm>
            <a:off x="644652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✗  DOES NOT MATCH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4"/>
          <p:cNvSpPr/>
          <p:nvPr/>
        </p:nvSpPr>
        <p:spPr>
          <a:xfrm>
            <a:off x="644652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short1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4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5"/>
          <p:cNvSpPr/>
          <p:nvPr/>
        </p:nvSpPr>
        <p:spPr>
          <a:xfrm>
            <a:off x="548640" y="2788920"/>
            <a:ext cx="11064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Lookahead Assertions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5"/>
          <p:cNvSpPr/>
          <p:nvPr/>
        </p:nvSpPr>
        <p:spPr>
          <a:xfrm>
            <a:off x="548640" y="37490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Four separate checks, taught one at a time before being combined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5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6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LOOKAHEAD ASSERTIONS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6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Uppercase Lookahead   </a:t>
            </a:r>
            <a:r>
              <a:rPr b="1" i="0" lang="en-US" sz="3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(?=.*[A-Z])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6"/>
          <p:cNvSpPr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A zero-width positive lookahead. It checks that an uppercase letter appears somewhere ahead, without consuming any characters itself.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548640" y="2514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6"/>
          <p:cNvSpPr/>
          <p:nvPr/>
        </p:nvSpPr>
        <p:spPr>
          <a:xfrm>
            <a:off x="548640" y="276148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(?=.*[A-Z])   →   uppercase letter required ahead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6"/>
          <p:cNvSpPr/>
          <p:nvPr/>
        </p:nvSpPr>
        <p:spPr>
          <a:xfrm>
            <a:off x="548640" y="32735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HTML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6"/>
          <p:cNvSpPr/>
          <p:nvPr/>
        </p:nvSpPr>
        <p:spPr>
          <a:xfrm>
            <a:off x="548640" y="3529584"/>
            <a:ext cx="11064240" cy="566928"/>
          </a:xfrm>
          <a:prstGeom prst="roundRect">
            <a:avLst>
              <a:gd fmla="val 12903" name="adj"/>
            </a:avLst>
          </a:prstGeom>
          <a:solidFill>
            <a:srgbClr val="F5F5FA"/>
          </a:solidFill>
          <a:ln cap="flat" cmpd="sng" w="12700">
            <a:solidFill>
              <a:srgbClr val="E0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6"/>
          <p:cNvSpPr/>
          <p:nvPr/>
        </p:nvSpPr>
        <p:spPr>
          <a:xfrm>
            <a:off x="822960" y="3529584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type="password" pattern="</a:t>
            </a:r>
            <a:r>
              <a:rPr b="1" i="0" lang="en-US" sz="14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(?=.*[A-Z]).{8,}</a:t>
            </a: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6"/>
          <p:cNvSpPr/>
          <p:nvPr/>
        </p:nvSpPr>
        <p:spPr>
          <a:xfrm>
            <a:off x="54864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E7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6"/>
          <p:cNvSpPr/>
          <p:nvPr/>
        </p:nvSpPr>
        <p:spPr>
          <a:xfrm>
            <a:off x="77724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✓  MATCHES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6"/>
          <p:cNvSpPr/>
          <p:nvPr/>
        </p:nvSpPr>
        <p:spPr>
          <a:xfrm>
            <a:off x="77724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Password1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6"/>
          <p:cNvSpPr/>
          <p:nvPr/>
        </p:nvSpPr>
        <p:spPr>
          <a:xfrm>
            <a:off x="621792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6"/>
          <p:cNvSpPr/>
          <p:nvPr/>
        </p:nvSpPr>
        <p:spPr>
          <a:xfrm>
            <a:off x="644652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✗  DOES NOT MATCH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6"/>
          <p:cNvSpPr/>
          <p:nvPr/>
        </p:nvSpPr>
        <p:spPr>
          <a:xfrm>
            <a:off x="644652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password1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6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7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LOOKAHEAD ASSERTIONS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Lowercase Lookahead   </a:t>
            </a:r>
            <a:r>
              <a:rPr b="1" i="0" lang="en-US" sz="3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(?=.*[a-z])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7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7"/>
          <p:cNvSpPr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The same lookahead mechanism, checking that a lowercase letter appears somewhere ahead in the value.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548640" y="2514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7"/>
          <p:cNvSpPr/>
          <p:nvPr/>
        </p:nvSpPr>
        <p:spPr>
          <a:xfrm>
            <a:off x="548640" y="276148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(?=.*[a-z])   →   lowercase letter required ahead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7"/>
          <p:cNvSpPr/>
          <p:nvPr/>
        </p:nvSpPr>
        <p:spPr>
          <a:xfrm>
            <a:off x="548640" y="32735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HTML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7"/>
          <p:cNvSpPr/>
          <p:nvPr/>
        </p:nvSpPr>
        <p:spPr>
          <a:xfrm>
            <a:off x="548640" y="3529584"/>
            <a:ext cx="11064240" cy="566928"/>
          </a:xfrm>
          <a:prstGeom prst="roundRect">
            <a:avLst>
              <a:gd fmla="val 12903" name="adj"/>
            </a:avLst>
          </a:prstGeom>
          <a:solidFill>
            <a:srgbClr val="F5F5FA"/>
          </a:solidFill>
          <a:ln cap="flat" cmpd="sng" w="12700">
            <a:solidFill>
              <a:srgbClr val="E0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7"/>
          <p:cNvSpPr/>
          <p:nvPr/>
        </p:nvSpPr>
        <p:spPr>
          <a:xfrm>
            <a:off x="822960" y="3529584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type="password" pattern="</a:t>
            </a:r>
            <a:r>
              <a:rPr b="1" i="0" lang="en-US" sz="14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(?=.*[a-z]).{8,}</a:t>
            </a: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7"/>
          <p:cNvSpPr/>
          <p:nvPr/>
        </p:nvSpPr>
        <p:spPr>
          <a:xfrm>
            <a:off x="54864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E7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7"/>
          <p:cNvSpPr/>
          <p:nvPr/>
        </p:nvSpPr>
        <p:spPr>
          <a:xfrm>
            <a:off x="77724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✓  MATCHES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7"/>
          <p:cNvSpPr/>
          <p:nvPr/>
        </p:nvSpPr>
        <p:spPr>
          <a:xfrm>
            <a:off x="77724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PASSWORDa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7"/>
          <p:cNvSpPr/>
          <p:nvPr/>
        </p:nvSpPr>
        <p:spPr>
          <a:xfrm>
            <a:off x="621792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7"/>
          <p:cNvSpPr/>
          <p:nvPr/>
        </p:nvSpPr>
        <p:spPr>
          <a:xfrm>
            <a:off x="644652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✗  DOES NOT MATCH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7"/>
          <p:cNvSpPr/>
          <p:nvPr/>
        </p:nvSpPr>
        <p:spPr>
          <a:xfrm>
            <a:off x="644652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PASSWORD1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7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8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LOOKAHEAD ASSERTIONS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8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Digit Lookahead   </a:t>
            </a:r>
            <a:r>
              <a:rPr b="1" i="0" lang="en-US" sz="3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(?=.*[0-9])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8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8"/>
          <p:cNvSpPr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Checks that a digit appears somewhere ahead in the value, using the same zero-width lookahead mechanism.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8"/>
          <p:cNvSpPr/>
          <p:nvPr/>
        </p:nvSpPr>
        <p:spPr>
          <a:xfrm>
            <a:off x="548640" y="2514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8"/>
          <p:cNvSpPr/>
          <p:nvPr/>
        </p:nvSpPr>
        <p:spPr>
          <a:xfrm>
            <a:off x="548640" y="276148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(?=.*[0-9])   →   digit required ahead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8"/>
          <p:cNvSpPr/>
          <p:nvPr/>
        </p:nvSpPr>
        <p:spPr>
          <a:xfrm>
            <a:off x="548640" y="32735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HTML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8"/>
          <p:cNvSpPr/>
          <p:nvPr/>
        </p:nvSpPr>
        <p:spPr>
          <a:xfrm>
            <a:off x="548640" y="3529584"/>
            <a:ext cx="11064240" cy="566928"/>
          </a:xfrm>
          <a:prstGeom prst="roundRect">
            <a:avLst>
              <a:gd fmla="val 12903" name="adj"/>
            </a:avLst>
          </a:prstGeom>
          <a:solidFill>
            <a:srgbClr val="F5F5FA"/>
          </a:solidFill>
          <a:ln cap="flat" cmpd="sng" w="12700">
            <a:solidFill>
              <a:srgbClr val="E0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8"/>
          <p:cNvSpPr/>
          <p:nvPr/>
        </p:nvSpPr>
        <p:spPr>
          <a:xfrm>
            <a:off x="822960" y="3529584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type="password" pattern="</a:t>
            </a:r>
            <a:r>
              <a:rPr b="1" i="0" lang="en-US" sz="14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(?=.*[0-9]).{8,}</a:t>
            </a: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8"/>
          <p:cNvSpPr/>
          <p:nvPr/>
        </p:nvSpPr>
        <p:spPr>
          <a:xfrm>
            <a:off x="54864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E7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8"/>
          <p:cNvSpPr/>
          <p:nvPr/>
        </p:nvSpPr>
        <p:spPr>
          <a:xfrm>
            <a:off x="77724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✓  MATCHES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8"/>
          <p:cNvSpPr/>
          <p:nvPr/>
        </p:nvSpPr>
        <p:spPr>
          <a:xfrm>
            <a:off x="77724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Password1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8"/>
          <p:cNvSpPr/>
          <p:nvPr/>
        </p:nvSpPr>
        <p:spPr>
          <a:xfrm>
            <a:off x="621792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8"/>
          <p:cNvSpPr/>
          <p:nvPr/>
        </p:nvSpPr>
        <p:spPr>
          <a:xfrm>
            <a:off x="644652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✗  DOES NOT MATCH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8"/>
          <p:cNvSpPr/>
          <p:nvPr/>
        </p:nvSpPr>
        <p:spPr>
          <a:xfrm>
            <a:off x="644652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Password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8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9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LOOKAHEAD ASSERTIONS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9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Special Character Lookahead   </a:t>
            </a:r>
            <a:r>
              <a:rPr b="1" i="0" lang="en-US" sz="3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(?=.*[!&amp;@#%])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9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9"/>
          <p:cNvSpPr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Checks that a special character from the given set appears somewhere ahead in the value, using the same lookahead mechanism.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9"/>
          <p:cNvSpPr/>
          <p:nvPr/>
        </p:nvSpPr>
        <p:spPr>
          <a:xfrm>
            <a:off x="548640" y="2514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9"/>
          <p:cNvSpPr/>
          <p:nvPr/>
        </p:nvSpPr>
        <p:spPr>
          <a:xfrm>
            <a:off x="548640" y="276148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(?=.*[!&amp;@#%])   →   special character required ahead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9"/>
          <p:cNvSpPr/>
          <p:nvPr/>
        </p:nvSpPr>
        <p:spPr>
          <a:xfrm>
            <a:off x="548640" y="32735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HTML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9"/>
          <p:cNvSpPr/>
          <p:nvPr/>
        </p:nvSpPr>
        <p:spPr>
          <a:xfrm>
            <a:off x="548640" y="3529584"/>
            <a:ext cx="11064240" cy="566928"/>
          </a:xfrm>
          <a:prstGeom prst="roundRect">
            <a:avLst>
              <a:gd fmla="val 12903" name="adj"/>
            </a:avLst>
          </a:prstGeom>
          <a:solidFill>
            <a:srgbClr val="F5F5FA"/>
          </a:solidFill>
          <a:ln cap="flat" cmpd="sng" w="12700">
            <a:solidFill>
              <a:srgbClr val="E0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9"/>
          <p:cNvSpPr/>
          <p:nvPr/>
        </p:nvSpPr>
        <p:spPr>
          <a:xfrm>
            <a:off x="822960" y="3529584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type="password" pattern="</a:t>
            </a:r>
            <a:r>
              <a:rPr b="1" i="0" lang="en-US" sz="14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(?=.*[!&amp;@#%]).{8,}</a:t>
            </a: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9"/>
          <p:cNvSpPr/>
          <p:nvPr/>
        </p:nvSpPr>
        <p:spPr>
          <a:xfrm>
            <a:off x="54864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E7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9"/>
          <p:cNvSpPr/>
          <p:nvPr/>
        </p:nvSpPr>
        <p:spPr>
          <a:xfrm>
            <a:off x="77724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✓  MATCHES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9"/>
          <p:cNvSpPr/>
          <p:nvPr/>
        </p:nvSpPr>
        <p:spPr>
          <a:xfrm>
            <a:off x="77724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Pass@123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9"/>
          <p:cNvSpPr/>
          <p:nvPr/>
        </p:nvSpPr>
        <p:spPr>
          <a:xfrm>
            <a:off x="6217920" y="4242816"/>
            <a:ext cx="5394960" cy="1234440"/>
          </a:xfrm>
          <a:prstGeom prst="roundRect">
            <a:avLst>
              <a:gd fmla="val 5926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9"/>
          <p:cNvSpPr/>
          <p:nvPr/>
        </p:nvSpPr>
        <p:spPr>
          <a:xfrm>
            <a:off x="6446520" y="43525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✗  DOES NOT MATCH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9"/>
          <p:cNvSpPr/>
          <p:nvPr/>
        </p:nvSpPr>
        <p:spPr>
          <a:xfrm>
            <a:off x="6446520" y="468172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Password123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9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Putting It All Together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0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Each of the four lookaheads was taught on its own. Combined, they build one complete password rule.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0"/>
          <p:cNvSpPr/>
          <p:nvPr/>
        </p:nvSpPr>
        <p:spPr>
          <a:xfrm>
            <a:off x="548640" y="1691640"/>
            <a:ext cx="11064240" cy="685800"/>
          </a:xfrm>
          <a:prstGeom prst="roundRect">
            <a:avLst>
              <a:gd fmla="val 10667" name="adj"/>
            </a:avLst>
          </a:prstGeom>
          <a:solidFill>
            <a:srgbClr val="F5F5FA"/>
          </a:solidFill>
          <a:ln cap="flat" cmpd="sng" w="12700">
            <a:solidFill>
              <a:srgbClr val="E0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0"/>
          <p:cNvSpPr/>
          <p:nvPr/>
        </p:nvSpPr>
        <p:spPr>
          <a:xfrm>
            <a:off x="822960" y="169164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type="password" pattern="</a:t>
            </a:r>
            <a:r>
              <a:rPr b="1" i="0" lang="en-US" sz="13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(?=.*[A-Z])(?=.*[a-z])(?=.*[0-9])(?=.*[!&amp;@#%]).{8,}</a:t>
            </a:r>
            <a:r>
              <a:rPr b="0" i="0" lang="en-US" sz="13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0"/>
          <p:cNvSpPr/>
          <p:nvPr/>
        </p:nvSpPr>
        <p:spPr>
          <a:xfrm>
            <a:off x="548640" y="2514600"/>
            <a:ext cx="11064240" cy="438912"/>
          </a:xfrm>
          <a:prstGeom prst="roundRect">
            <a:avLst>
              <a:gd fmla="val 12500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0"/>
          <p:cNvSpPr/>
          <p:nvPr/>
        </p:nvSpPr>
        <p:spPr>
          <a:xfrm>
            <a:off x="777240" y="2514600"/>
            <a:ext cx="3291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(?=.*[A-Z])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0"/>
          <p:cNvSpPr/>
          <p:nvPr/>
        </p:nvSpPr>
        <p:spPr>
          <a:xfrm>
            <a:off x="4206240" y="2514600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requires at least one uppercase letter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0"/>
          <p:cNvSpPr/>
          <p:nvPr/>
        </p:nvSpPr>
        <p:spPr>
          <a:xfrm>
            <a:off x="548640" y="3026664"/>
            <a:ext cx="11064240" cy="438912"/>
          </a:xfrm>
          <a:prstGeom prst="roundRect">
            <a:avLst>
              <a:gd fmla="val 12500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0"/>
          <p:cNvSpPr/>
          <p:nvPr/>
        </p:nvSpPr>
        <p:spPr>
          <a:xfrm>
            <a:off x="777240" y="3026664"/>
            <a:ext cx="3291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(?=.*[a-z])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0"/>
          <p:cNvSpPr/>
          <p:nvPr/>
        </p:nvSpPr>
        <p:spPr>
          <a:xfrm>
            <a:off x="4206240" y="3026664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requires at least one lowercase letter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0"/>
          <p:cNvSpPr/>
          <p:nvPr/>
        </p:nvSpPr>
        <p:spPr>
          <a:xfrm>
            <a:off x="548640" y="3538728"/>
            <a:ext cx="11064240" cy="438912"/>
          </a:xfrm>
          <a:prstGeom prst="roundRect">
            <a:avLst>
              <a:gd fmla="val 12500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0"/>
          <p:cNvSpPr/>
          <p:nvPr/>
        </p:nvSpPr>
        <p:spPr>
          <a:xfrm>
            <a:off x="777240" y="3538728"/>
            <a:ext cx="3291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(?=.*[0-9])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0"/>
          <p:cNvSpPr/>
          <p:nvPr/>
        </p:nvSpPr>
        <p:spPr>
          <a:xfrm>
            <a:off x="4206240" y="3538728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requires at least one digit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0"/>
          <p:cNvSpPr/>
          <p:nvPr/>
        </p:nvSpPr>
        <p:spPr>
          <a:xfrm>
            <a:off x="548640" y="4050792"/>
            <a:ext cx="11064240" cy="438912"/>
          </a:xfrm>
          <a:prstGeom prst="roundRect">
            <a:avLst>
              <a:gd fmla="val 12500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0"/>
          <p:cNvSpPr/>
          <p:nvPr/>
        </p:nvSpPr>
        <p:spPr>
          <a:xfrm>
            <a:off x="777240" y="4050792"/>
            <a:ext cx="3291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(?=.*[!&amp;@#%])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0"/>
          <p:cNvSpPr/>
          <p:nvPr/>
        </p:nvSpPr>
        <p:spPr>
          <a:xfrm>
            <a:off x="4206240" y="4050792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requires at least one special character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0"/>
          <p:cNvSpPr/>
          <p:nvPr/>
        </p:nvSpPr>
        <p:spPr>
          <a:xfrm>
            <a:off x="548640" y="4562856"/>
            <a:ext cx="11064240" cy="438912"/>
          </a:xfrm>
          <a:prstGeom prst="roundRect">
            <a:avLst>
              <a:gd fmla="val 12500" name="adj"/>
            </a:avLst>
          </a:prstGeom>
          <a:solidFill>
            <a:srgbClr val="F4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0"/>
          <p:cNvSpPr/>
          <p:nvPr/>
        </p:nvSpPr>
        <p:spPr>
          <a:xfrm>
            <a:off x="777240" y="4562856"/>
            <a:ext cx="3291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.{8,}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0"/>
          <p:cNvSpPr/>
          <p:nvPr/>
        </p:nvSpPr>
        <p:spPr>
          <a:xfrm>
            <a:off x="4206240" y="4562856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A46"/>
                </a:solidFill>
                <a:latin typeface="Calibri"/>
                <a:ea typeface="Calibri"/>
                <a:cs typeface="Calibri"/>
                <a:sym typeface="Calibri"/>
              </a:rPr>
              <a:t>requires a minimum length of 8 characters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0"/>
          <p:cNvSpPr/>
          <p:nvPr/>
        </p:nvSpPr>
        <p:spPr>
          <a:xfrm>
            <a:off x="548640" y="5212080"/>
            <a:ext cx="5394960" cy="777240"/>
          </a:xfrm>
          <a:prstGeom prst="roundRect">
            <a:avLst>
              <a:gd fmla="val 9412" name="adj"/>
            </a:avLst>
          </a:prstGeom>
          <a:solidFill>
            <a:srgbClr val="E7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0"/>
          <p:cNvSpPr/>
          <p:nvPr/>
        </p:nvSpPr>
        <p:spPr>
          <a:xfrm>
            <a:off x="777240" y="530352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✓  MATCHES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0"/>
          <p:cNvSpPr/>
          <p:nvPr/>
        </p:nvSpPr>
        <p:spPr>
          <a:xfrm>
            <a:off x="777240" y="5596128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Pass@123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0"/>
          <p:cNvSpPr/>
          <p:nvPr/>
        </p:nvSpPr>
        <p:spPr>
          <a:xfrm>
            <a:off x="6217920" y="5212080"/>
            <a:ext cx="5394960" cy="777240"/>
          </a:xfrm>
          <a:prstGeom prst="roundRect">
            <a:avLst>
              <a:gd fmla="val 9412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0"/>
          <p:cNvSpPr/>
          <p:nvPr/>
        </p:nvSpPr>
        <p:spPr>
          <a:xfrm>
            <a:off x="6446520" y="530352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✗  DOES NOT MATCH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0"/>
          <p:cNvSpPr/>
          <p:nvPr/>
        </p:nvSpPr>
        <p:spPr>
          <a:xfrm>
            <a:off x="6446520" y="5596128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6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A3A46"/>
                </a:solidFill>
                <a:latin typeface="Courier New"/>
                <a:ea typeface="Courier New"/>
                <a:cs typeface="Courier New"/>
                <a:sym typeface="Courier New"/>
              </a:rPr>
              <a:t>password123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0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Practice next: write your own pattern attribute for a username field and a phone number field, using the symbols from this deck.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0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@adfarsirofficial   |   Adfar Rasheed — Full-Stack Developer &amp; Tech Educator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0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